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7751" r:id="rId2"/>
    <p:sldId id="7754" r:id="rId3"/>
    <p:sldId id="7753" r:id="rId4"/>
    <p:sldId id="7752" r:id="rId5"/>
    <p:sldId id="7756" r:id="rId6"/>
    <p:sldId id="7757" r:id="rId7"/>
    <p:sldId id="7758" r:id="rId8"/>
    <p:sldId id="7759" r:id="rId9"/>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9E236680-F70B-4F68-B601-89141CDD1AC0}">
          <p14:sldIdLst>
            <p14:sldId id="7751"/>
            <p14:sldId id="7754"/>
            <p14:sldId id="7753"/>
            <p14:sldId id="7752"/>
            <p14:sldId id="7756"/>
            <p14:sldId id="7757"/>
            <p14:sldId id="7758"/>
            <p14:sldId id="77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9900"/>
    <a:srgbClr val="2A6E3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6" d="100"/>
          <a:sy n="56" d="100"/>
        </p:scale>
        <p:origin x="1000"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nica Rodriguez Silva" userId="321bd354-7525-43a9-971a-97c8aeb52f4f" providerId="ADAL" clId="{2248152D-737C-485E-A576-FBCB7C7E974B}"/>
    <pc:docChg chg="modSld">
      <pc:chgData name="Monica Rodriguez Silva" userId="321bd354-7525-43a9-971a-97c8aeb52f4f" providerId="ADAL" clId="{2248152D-737C-485E-A576-FBCB7C7E974B}" dt="2026-02-02T13:42:00.536" v="12" actId="6549"/>
      <pc:docMkLst>
        <pc:docMk/>
      </pc:docMkLst>
      <pc:sldChg chg="modSp mod">
        <pc:chgData name="Monica Rodriguez Silva" userId="321bd354-7525-43a9-971a-97c8aeb52f4f" providerId="ADAL" clId="{2248152D-737C-485E-A576-FBCB7C7E974B}" dt="2026-02-02T13:42:00.536" v="12" actId="6549"/>
        <pc:sldMkLst>
          <pc:docMk/>
          <pc:sldMk cId="3318156635" sldId="7753"/>
        </pc:sldMkLst>
        <pc:spChg chg="mod">
          <ac:chgData name="Monica Rodriguez Silva" userId="321bd354-7525-43a9-971a-97c8aeb52f4f" providerId="ADAL" clId="{2248152D-737C-485E-A576-FBCB7C7E974B}" dt="2026-02-02T13:42:00.536" v="12" actId="6549"/>
          <ac:spMkLst>
            <pc:docMk/>
            <pc:sldMk cId="3318156635" sldId="7753"/>
            <ac:spMk id="3" creationId="{50263DF4-B24D-03AD-C80B-0EB838219BF6}"/>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FF1F7C-43BA-D068-69B8-284582411590}"/>
              </a:ext>
            </a:extLst>
          </p:cNvPr>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endParaRPr lang="es-CO"/>
          </a:p>
        </p:txBody>
      </p:sp>
      <p:sp>
        <p:nvSpPr>
          <p:cNvPr id="3" name="Subtítulo 2">
            <a:extLst>
              <a:ext uri="{FF2B5EF4-FFF2-40B4-BE49-F238E27FC236}">
                <a16:creationId xmlns:a16="http://schemas.microsoft.com/office/drawing/2014/main" id="{1BDA2114-0D2F-1CC0-ECB1-36B48CAC2BF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CO"/>
          </a:p>
        </p:txBody>
      </p:sp>
      <p:sp>
        <p:nvSpPr>
          <p:cNvPr id="4" name="Marcador de fecha 3">
            <a:extLst>
              <a:ext uri="{FF2B5EF4-FFF2-40B4-BE49-F238E27FC236}">
                <a16:creationId xmlns:a16="http://schemas.microsoft.com/office/drawing/2014/main" id="{77114176-E7C1-21F5-B68C-36454244D6F6}"/>
              </a:ext>
            </a:extLst>
          </p:cNvPr>
          <p:cNvSpPr>
            <a:spLocks noGrp="1"/>
          </p:cNvSpPr>
          <p:nvPr>
            <p:ph type="dt" sz="half" idx="10"/>
          </p:nvPr>
        </p:nvSpPr>
        <p:spPr/>
        <p:txBody>
          <a:bodyPr/>
          <a:lstStyle/>
          <a:p>
            <a:fld id="{53CA9640-032B-4E00-A808-5D1093F3F478}" type="datetimeFigureOut">
              <a:rPr lang="es-CO" smtClean="0"/>
              <a:t>2/02/2026</a:t>
            </a:fld>
            <a:endParaRPr lang="es-CO"/>
          </a:p>
        </p:txBody>
      </p:sp>
      <p:sp>
        <p:nvSpPr>
          <p:cNvPr id="5" name="Marcador de pie de página 4">
            <a:extLst>
              <a:ext uri="{FF2B5EF4-FFF2-40B4-BE49-F238E27FC236}">
                <a16:creationId xmlns:a16="http://schemas.microsoft.com/office/drawing/2014/main" id="{7167F908-9060-0110-05B5-D079C66943B8}"/>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3CBF438A-91F0-41F3-831A-34232D37680C}"/>
              </a:ext>
            </a:extLst>
          </p:cNvPr>
          <p:cNvSpPr>
            <a:spLocks noGrp="1"/>
          </p:cNvSpPr>
          <p:nvPr>
            <p:ph type="sldNum" sz="quarter" idx="12"/>
          </p:nvPr>
        </p:nvSpPr>
        <p:spPr/>
        <p:txBody>
          <a:bodyPr/>
          <a:lstStyle/>
          <a:p>
            <a:fld id="{44B3E8B3-BE6F-4FC2-B8BD-9BA67987634D}" type="slidenum">
              <a:rPr lang="es-CO" smtClean="0"/>
              <a:t>‹Nº›</a:t>
            </a:fld>
            <a:endParaRPr lang="es-CO"/>
          </a:p>
        </p:txBody>
      </p:sp>
    </p:spTree>
    <p:extLst>
      <p:ext uri="{BB962C8B-B14F-4D97-AF65-F5344CB8AC3E}">
        <p14:creationId xmlns:p14="http://schemas.microsoft.com/office/powerpoint/2010/main" val="23377301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353CFB-376A-A69A-1F1B-0FB520215227}"/>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contenido 2">
            <a:extLst>
              <a:ext uri="{FF2B5EF4-FFF2-40B4-BE49-F238E27FC236}">
                <a16:creationId xmlns:a16="http://schemas.microsoft.com/office/drawing/2014/main" id="{A5EE3DF9-56D6-BC2C-8028-5F793EF5F7A7}"/>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86621363-885E-AF83-41C9-00027F55D41B}"/>
              </a:ext>
            </a:extLst>
          </p:cNvPr>
          <p:cNvSpPr>
            <a:spLocks noGrp="1"/>
          </p:cNvSpPr>
          <p:nvPr>
            <p:ph type="dt" sz="half" idx="10"/>
          </p:nvPr>
        </p:nvSpPr>
        <p:spPr/>
        <p:txBody>
          <a:bodyPr/>
          <a:lstStyle/>
          <a:p>
            <a:fld id="{53CA9640-032B-4E00-A808-5D1093F3F478}" type="datetimeFigureOut">
              <a:rPr lang="es-CO" smtClean="0"/>
              <a:t>2/02/2026</a:t>
            </a:fld>
            <a:endParaRPr lang="es-CO"/>
          </a:p>
        </p:txBody>
      </p:sp>
      <p:sp>
        <p:nvSpPr>
          <p:cNvPr id="5" name="Marcador de pie de página 4">
            <a:extLst>
              <a:ext uri="{FF2B5EF4-FFF2-40B4-BE49-F238E27FC236}">
                <a16:creationId xmlns:a16="http://schemas.microsoft.com/office/drawing/2014/main" id="{39F0C1E8-9606-839A-0067-342A77657F77}"/>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04E4AB0E-6843-BFA7-2649-D81474240135}"/>
              </a:ext>
            </a:extLst>
          </p:cNvPr>
          <p:cNvSpPr>
            <a:spLocks noGrp="1"/>
          </p:cNvSpPr>
          <p:nvPr>
            <p:ph type="sldNum" sz="quarter" idx="12"/>
          </p:nvPr>
        </p:nvSpPr>
        <p:spPr/>
        <p:txBody>
          <a:bodyPr/>
          <a:lstStyle/>
          <a:p>
            <a:fld id="{44B3E8B3-BE6F-4FC2-B8BD-9BA67987634D}" type="slidenum">
              <a:rPr lang="es-CO" smtClean="0"/>
              <a:t>‹Nº›</a:t>
            </a:fld>
            <a:endParaRPr lang="es-CO"/>
          </a:p>
        </p:txBody>
      </p:sp>
    </p:spTree>
    <p:extLst>
      <p:ext uri="{BB962C8B-B14F-4D97-AF65-F5344CB8AC3E}">
        <p14:creationId xmlns:p14="http://schemas.microsoft.com/office/powerpoint/2010/main" val="6542492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8C9783-30BB-C7A8-60C1-70749AA6FEB8}"/>
              </a:ext>
            </a:extLst>
          </p:cNvPr>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endParaRPr lang="es-CO"/>
          </a:p>
        </p:txBody>
      </p:sp>
      <p:sp>
        <p:nvSpPr>
          <p:cNvPr id="3" name="Marcador de texto 2">
            <a:extLst>
              <a:ext uri="{FF2B5EF4-FFF2-40B4-BE49-F238E27FC236}">
                <a16:creationId xmlns:a16="http://schemas.microsoft.com/office/drawing/2014/main" id="{332D18BB-1DAF-4328-C06E-A0A8657EF17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FF710C38-2E36-4462-C955-55468F736A3A}"/>
              </a:ext>
            </a:extLst>
          </p:cNvPr>
          <p:cNvSpPr>
            <a:spLocks noGrp="1"/>
          </p:cNvSpPr>
          <p:nvPr>
            <p:ph type="dt" sz="half" idx="10"/>
          </p:nvPr>
        </p:nvSpPr>
        <p:spPr/>
        <p:txBody>
          <a:bodyPr/>
          <a:lstStyle/>
          <a:p>
            <a:fld id="{53CA9640-032B-4E00-A808-5D1093F3F478}" type="datetimeFigureOut">
              <a:rPr lang="es-CO" smtClean="0"/>
              <a:t>2/02/2026</a:t>
            </a:fld>
            <a:endParaRPr lang="es-CO"/>
          </a:p>
        </p:txBody>
      </p:sp>
      <p:sp>
        <p:nvSpPr>
          <p:cNvPr id="5" name="Marcador de pie de página 4">
            <a:extLst>
              <a:ext uri="{FF2B5EF4-FFF2-40B4-BE49-F238E27FC236}">
                <a16:creationId xmlns:a16="http://schemas.microsoft.com/office/drawing/2014/main" id="{F64DD18C-EB5B-7B1A-7AFB-438E43434370}"/>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55CD87B-709D-58E8-1FE1-178E1E717AF0}"/>
              </a:ext>
            </a:extLst>
          </p:cNvPr>
          <p:cNvSpPr>
            <a:spLocks noGrp="1"/>
          </p:cNvSpPr>
          <p:nvPr>
            <p:ph type="sldNum" sz="quarter" idx="12"/>
          </p:nvPr>
        </p:nvSpPr>
        <p:spPr/>
        <p:txBody>
          <a:bodyPr/>
          <a:lstStyle/>
          <a:p>
            <a:fld id="{44B3E8B3-BE6F-4FC2-B8BD-9BA67987634D}" type="slidenum">
              <a:rPr lang="es-CO" smtClean="0"/>
              <a:t>‹Nº›</a:t>
            </a:fld>
            <a:endParaRPr lang="es-CO"/>
          </a:p>
        </p:txBody>
      </p:sp>
    </p:spTree>
    <p:extLst>
      <p:ext uri="{BB962C8B-B14F-4D97-AF65-F5344CB8AC3E}">
        <p14:creationId xmlns:p14="http://schemas.microsoft.com/office/powerpoint/2010/main" val="3731311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51675E5-4175-043C-D0BD-69295F8F1A78}"/>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contenido 2">
            <a:extLst>
              <a:ext uri="{FF2B5EF4-FFF2-40B4-BE49-F238E27FC236}">
                <a16:creationId xmlns:a16="http://schemas.microsoft.com/office/drawing/2014/main" id="{7E370C48-78DA-8423-1505-ABABF1B90E4D}"/>
              </a:ext>
            </a:extLst>
          </p:cNvPr>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contenido 3">
            <a:extLst>
              <a:ext uri="{FF2B5EF4-FFF2-40B4-BE49-F238E27FC236}">
                <a16:creationId xmlns:a16="http://schemas.microsoft.com/office/drawing/2014/main" id="{E224A9A9-2D96-3DFC-A2B0-D5D52497D9C4}"/>
              </a:ext>
            </a:extLst>
          </p:cNvPr>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5" name="Marcador de fecha 4">
            <a:extLst>
              <a:ext uri="{FF2B5EF4-FFF2-40B4-BE49-F238E27FC236}">
                <a16:creationId xmlns:a16="http://schemas.microsoft.com/office/drawing/2014/main" id="{563F485C-81C7-C986-38F9-428F8885A8E6}"/>
              </a:ext>
            </a:extLst>
          </p:cNvPr>
          <p:cNvSpPr>
            <a:spLocks noGrp="1"/>
          </p:cNvSpPr>
          <p:nvPr>
            <p:ph type="dt" sz="half" idx="10"/>
          </p:nvPr>
        </p:nvSpPr>
        <p:spPr/>
        <p:txBody>
          <a:bodyPr/>
          <a:lstStyle/>
          <a:p>
            <a:fld id="{53CA9640-032B-4E00-A808-5D1093F3F478}" type="datetimeFigureOut">
              <a:rPr lang="es-CO" smtClean="0"/>
              <a:t>2/02/2026</a:t>
            </a:fld>
            <a:endParaRPr lang="es-CO"/>
          </a:p>
        </p:txBody>
      </p:sp>
      <p:sp>
        <p:nvSpPr>
          <p:cNvPr id="6" name="Marcador de pie de página 5">
            <a:extLst>
              <a:ext uri="{FF2B5EF4-FFF2-40B4-BE49-F238E27FC236}">
                <a16:creationId xmlns:a16="http://schemas.microsoft.com/office/drawing/2014/main" id="{E1F97E04-A0C9-8ADB-936A-202DDE270990}"/>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D9B16357-F490-3908-79A8-7AAFA5B65169}"/>
              </a:ext>
            </a:extLst>
          </p:cNvPr>
          <p:cNvSpPr>
            <a:spLocks noGrp="1"/>
          </p:cNvSpPr>
          <p:nvPr>
            <p:ph type="sldNum" sz="quarter" idx="12"/>
          </p:nvPr>
        </p:nvSpPr>
        <p:spPr/>
        <p:txBody>
          <a:bodyPr/>
          <a:lstStyle/>
          <a:p>
            <a:fld id="{44B3E8B3-BE6F-4FC2-B8BD-9BA67987634D}" type="slidenum">
              <a:rPr lang="es-CO" smtClean="0"/>
              <a:t>‹Nº›</a:t>
            </a:fld>
            <a:endParaRPr lang="es-CO"/>
          </a:p>
        </p:txBody>
      </p:sp>
    </p:spTree>
    <p:extLst>
      <p:ext uri="{BB962C8B-B14F-4D97-AF65-F5344CB8AC3E}">
        <p14:creationId xmlns:p14="http://schemas.microsoft.com/office/powerpoint/2010/main" val="27917803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8355CE-7073-4AA2-922A-867D49C4F4B8}"/>
              </a:ext>
            </a:extLst>
          </p:cNvPr>
          <p:cNvSpPr>
            <a:spLocks noGrp="1"/>
          </p:cNvSpPr>
          <p:nvPr>
            <p:ph type="title"/>
          </p:nvPr>
        </p:nvSpPr>
        <p:spPr>
          <a:xfrm>
            <a:off x="839788" y="365125"/>
            <a:ext cx="10515600" cy="1325563"/>
          </a:xfrm>
        </p:spPr>
        <p:txBody>
          <a:bodyPr/>
          <a:lstStyle/>
          <a:p>
            <a:r>
              <a:rPr lang="es-MX"/>
              <a:t>Haz clic para modificar el estilo de título del patrón</a:t>
            </a:r>
            <a:endParaRPr lang="es-CO"/>
          </a:p>
        </p:txBody>
      </p:sp>
      <p:sp>
        <p:nvSpPr>
          <p:cNvPr id="3" name="Marcador de texto 2">
            <a:extLst>
              <a:ext uri="{FF2B5EF4-FFF2-40B4-BE49-F238E27FC236}">
                <a16:creationId xmlns:a16="http://schemas.microsoft.com/office/drawing/2014/main" id="{148446BF-0E57-9A25-696E-1355AD18878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46760B6E-3681-E81C-9DE5-525F68DF1603}"/>
              </a:ext>
            </a:extLst>
          </p:cNvPr>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5" name="Marcador de texto 4">
            <a:extLst>
              <a:ext uri="{FF2B5EF4-FFF2-40B4-BE49-F238E27FC236}">
                <a16:creationId xmlns:a16="http://schemas.microsoft.com/office/drawing/2014/main" id="{AF8ED23A-9129-BA4B-82C9-07B5BF8BB0D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3EA31B72-59A2-A571-3094-1462A56D4C74}"/>
              </a:ext>
            </a:extLst>
          </p:cNvPr>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7" name="Marcador de fecha 6">
            <a:extLst>
              <a:ext uri="{FF2B5EF4-FFF2-40B4-BE49-F238E27FC236}">
                <a16:creationId xmlns:a16="http://schemas.microsoft.com/office/drawing/2014/main" id="{15370330-1037-BA52-1A0E-AFEB4008DCBB}"/>
              </a:ext>
            </a:extLst>
          </p:cNvPr>
          <p:cNvSpPr>
            <a:spLocks noGrp="1"/>
          </p:cNvSpPr>
          <p:nvPr>
            <p:ph type="dt" sz="half" idx="10"/>
          </p:nvPr>
        </p:nvSpPr>
        <p:spPr/>
        <p:txBody>
          <a:bodyPr/>
          <a:lstStyle/>
          <a:p>
            <a:fld id="{53CA9640-032B-4E00-A808-5D1093F3F478}" type="datetimeFigureOut">
              <a:rPr lang="es-CO" smtClean="0"/>
              <a:t>2/02/2026</a:t>
            </a:fld>
            <a:endParaRPr lang="es-CO"/>
          </a:p>
        </p:txBody>
      </p:sp>
      <p:sp>
        <p:nvSpPr>
          <p:cNvPr id="8" name="Marcador de pie de página 7">
            <a:extLst>
              <a:ext uri="{FF2B5EF4-FFF2-40B4-BE49-F238E27FC236}">
                <a16:creationId xmlns:a16="http://schemas.microsoft.com/office/drawing/2014/main" id="{5ECED5AF-4A8C-2AC1-4E2C-58893F4B451A}"/>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834AA845-64F0-7A5A-4399-A6EA3F6883DE}"/>
              </a:ext>
            </a:extLst>
          </p:cNvPr>
          <p:cNvSpPr>
            <a:spLocks noGrp="1"/>
          </p:cNvSpPr>
          <p:nvPr>
            <p:ph type="sldNum" sz="quarter" idx="12"/>
          </p:nvPr>
        </p:nvSpPr>
        <p:spPr/>
        <p:txBody>
          <a:bodyPr/>
          <a:lstStyle/>
          <a:p>
            <a:fld id="{44B3E8B3-BE6F-4FC2-B8BD-9BA67987634D}" type="slidenum">
              <a:rPr lang="es-CO" smtClean="0"/>
              <a:t>‹Nº›</a:t>
            </a:fld>
            <a:endParaRPr lang="es-CO"/>
          </a:p>
        </p:txBody>
      </p:sp>
    </p:spTree>
    <p:extLst>
      <p:ext uri="{BB962C8B-B14F-4D97-AF65-F5344CB8AC3E}">
        <p14:creationId xmlns:p14="http://schemas.microsoft.com/office/powerpoint/2010/main" val="22317110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44BAF9-5324-B520-3B82-77A7F69E1E68}"/>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fecha 2">
            <a:extLst>
              <a:ext uri="{FF2B5EF4-FFF2-40B4-BE49-F238E27FC236}">
                <a16:creationId xmlns:a16="http://schemas.microsoft.com/office/drawing/2014/main" id="{6C7BDE6B-11D5-303A-1F37-6E391DD7712A}"/>
              </a:ext>
            </a:extLst>
          </p:cNvPr>
          <p:cNvSpPr>
            <a:spLocks noGrp="1"/>
          </p:cNvSpPr>
          <p:nvPr>
            <p:ph type="dt" sz="half" idx="10"/>
          </p:nvPr>
        </p:nvSpPr>
        <p:spPr/>
        <p:txBody>
          <a:bodyPr/>
          <a:lstStyle/>
          <a:p>
            <a:fld id="{53CA9640-032B-4E00-A808-5D1093F3F478}" type="datetimeFigureOut">
              <a:rPr lang="es-CO" smtClean="0"/>
              <a:t>2/02/2026</a:t>
            </a:fld>
            <a:endParaRPr lang="es-CO"/>
          </a:p>
        </p:txBody>
      </p:sp>
      <p:sp>
        <p:nvSpPr>
          <p:cNvPr id="4" name="Marcador de pie de página 3">
            <a:extLst>
              <a:ext uri="{FF2B5EF4-FFF2-40B4-BE49-F238E27FC236}">
                <a16:creationId xmlns:a16="http://schemas.microsoft.com/office/drawing/2014/main" id="{8C32A532-9F45-DF16-4CDF-6E654623650A}"/>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34208AD1-A7B0-A5E4-8545-57E7D631770A}"/>
              </a:ext>
            </a:extLst>
          </p:cNvPr>
          <p:cNvSpPr>
            <a:spLocks noGrp="1"/>
          </p:cNvSpPr>
          <p:nvPr>
            <p:ph type="sldNum" sz="quarter" idx="12"/>
          </p:nvPr>
        </p:nvSpPr>
        <p:spPr/>
        <p:txBody>
          <a:bodyPr/>
          <a:lstStyle/>
          <a:p>
            <a:fld id="{44B3E8B3-BE6F-4FC2-B8BD-9BA67987634D}" type="slidenum">
              <a:rPr lang="es-CO" smtClean="0"/>
              <a:t>‹Nº›</a:t>
            </a:fld>
            <a:endParaRPr lang="es-CO"/>
          </a:p>
        </p:txBody>
      </p:sp>
    </p:spTree>
    <p:extLst>
      <p:ext uri="{BB962C8B-B14F-4D97-AF65-F5344CB8AC3E}">
        <p14:creationId xmlns:p14="http://schemas.microsoft.com/office/powerpoint/2010/main" val="873476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1F21849-8516-C94C-6399-212206A240B2}"/>
              </a:ext>
            </a:extLst>
          </p:cNvPr>
          <p:cNvSpPr>
            <a:spLocks noGrp="1"/>
          </p:cNvSpPr>
          <p:nvPr>
            <p:ph type="dt" sz="half" idx="10"/>
          </p:nvPr>
        </p:nvSpPr>
        <p:spPr/>
        <p:txBody>
          <a:bodyPr/>
          <a:lstStyle/>
          <a:p>
            <a:fld id="{53CA9640-032B-4E00-A808-5D1093F3F478}" type="datetimeFigureOut">
              <a:rPr lang="es-CO" smtClean="0"/>
              <a:t>2/02/2026</a:t>
            </a:fld>
            <a:endParaRPr lang="es-CO"/>
          </a:p>
        </p:txBody>
      </p:sp>
      <p:sp>
        <p:nvSpPr>
          <p:cNvPr id="3" name="Marcador de pie de página 2">
            <a:extLst>
              <a:ext uri="{FF2B5EF4-FFF2-40B4-BE49-F238E27FC236}">
                <a16:creationId xmlns:a16="http://schemas.microsoft.com/office/drawing/2014/main" id="{A7738003-F67A-9A38-C3E0-26A7F7AD534A}"/>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82A16059-907D-3757-59AC-71C81A654979}"/>
              </a:ext>
            </a:extLst>
          </p:cNvPr>
          <p:cNvSpPr>
            <a:spLocks noGrp="1"/>
          </p:cNvSpPr>
          <p:nvPr>
            <p:ph type="sldNum" sz="quarter" idx="12"/>
          </p:nvPr>
        </p:nvSpPr>
        <p:spPr/>
        <p:txBody>
          <a:bodyPr/>
          <a:lstStyle/>
          <a:p>
            <a:fld id="{44B3E8B3-BE6F-4FC2-B8BD-9BA67987634D}" type="slidenum">
              <a:rPr lang="es-CO" smtClean="0"/>
              <a:t>‹Nº›</a:t>
            </a:fld>
            <a:endParaRPr lang="es-CO"/>
          </a:p>
        </p:txBody>
      </p:sp>
    </p:spTree>
    <p:extLst>
      <p:ext uri="{BB962C8B-B14F-4D97-AF65-F5344CB8AC3E}">
        <p14:creationId xmlns:p14="http://schemas.microsoft.com/office/powerpoint/2010/main" val="891071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92AE6C-7821-479A-5872-9E2ED1906011}"/>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contenido 2">
            <a:extLst>
              <a:ext uri="{FF2B5EF4-FFF2-40B4-BE49-F238E27FC236}">
                <a16:creationId xmlns:a16="http://schemas.microsoft.com/office/drawing/2014/main" id="{7DBC84FA-7288-8641-640F-9449B61454C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texto 3">
            <a:extLst>
              <a:ext uri="{FF2B5EF4-FFF2-40B4-BE49-F238E27FC236}">
                <a16:creationId xmlns:a16="http://schemas.microsoft.com/office/drawing/2014/main" id="{36470D8D-B77D-07FE-EFD1-56DB91AFB8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AEA3CBA0-15B6-85E7-6810-18B71CD6806E}"/>
              </a:ext>
            </a:extLst>
          </p:cNvPr>
          <p:cNvSpPr>
            <a:spLocks noGrp="1"/>
          </p:cNvSpPr>
          <p:nvPr>
            <p:ph type="dt" sz="half" idx="10"/>
          </p:nvPr>
        </p:nvSpPr>
        <p:spPr/>
        <p:txBody>
          <a:bodyPr/>
          <a:lstStyle/>
          <a:p>
            <a:fld id="{53CA9640-032B-4E00-A808-5D1093F3F478}" type="datetimeFigureOut">
              <a:rPr lang="es-CO" smtClean="0"/>
              <a:t>2/02/2026</a:t>
            </a:fld>
            <a:endParaRPr lang="es-CO"/>
          </a:p>
        </p:txBody>
      </p:sp>
      <p:sp>
        <p:nvSpPr>
          <p:cNvPr id="6" name="Marcador de pie de página 5">
            <a:extLst>
              <a:ext uri="{FF2B5EF4-FFF2-40B4-BE49-F238E27FC236}">
                <a16:creationId xmlns:a16="http://schemas.microsoft.com/office/drawing/2014/main" id="{30CBA197-87CA-F0BF-D59E-63340D16816F}"/>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EA54833F-A706-B82B-7568-B8BB6661856D}"/>
              </a:ext>
            </a:extLst>
          </p:cNvPr>
          <p:cNvSpPr>
            <a:spLocks noGrp="1"/>
          </p:cNvSpPr>
          <p:nvPr>
            <p:ph type="sldNum" sz="quarter" idx="12"/>
          </p:nvPr>
        </p:nvSpPr>
        <p:spPr/>
        <p:txBody>
          <a:bodyPr/>
          <a:lstStyle/>
          <a:p>
            <a:fld id="{44B3E8B3-BE6F-4FC2-B8BD-9BA67987634D}" type="slidenum">
              <a:rPr lang="es-CO" smtClean="0"/>
              <a:t>‹Nº›</a:t>
            </a:fld>
            <a:endParaRPr lang="es-CO"/>
          </a:p>
        </p:txBody>
      </p:sp>
    </p:spTree>
    <p:extLst>
      <p:ext uri="{BB962C8B-B14F-4D97-AF65-F5344CB8AC3E}">
        <p14:creationId xmlns:p14="http://schemas.microsoft.com/office/powerpoint/2010/main" val="27414609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A0E1C2-2F25-3FDA-9213-838CB2D8DF0D}"/>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posición de imagen 2">
            <a:extLst>
              <a:ext uri="{FF2B5EF4-FFF2-40B4-BE49-F238E27FC236}">
                <a16:creationId xmlns:a16="http://schemas.microsoft.com/office/drawing/2014/main" id="{10C0FCB3-FC74-BFEA-87AC-52D66F972A7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6A1F542B-9ABA-FC32-FC4E-A3BB7A1881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33E85D3F-5084-1267-5C4D-00C884A81C92}"/>
              </a:ext>
            </a:extLst>
          </p:cNvPr>
          <p:cNvSpPr>
            <a:spLocks noGrp="1"/>
          </p:cNvSpPr>
          <p:nvPr>
            <p:ph type="dt" sz="half" idx="10"/>
          </p:nvPr>
        </p:nvSpPr>
        <p:spPr/>
        <p:txBody>
          <a:bodyPr/>
          <a:lstStyle/>
          <a:p>
            <a:fld id="{53CA9640-032B-4E00-A808-5D1093F3F478}" type="datetimeFigureOut">
              <a:rPr lang="es-CO" smtClean="0"/>
              <a:t>2/02/2026</a:t>
            </a:fld>
            <a:endParaRPr lang="es-CO"/>
          </a:p>
        </p:txBody>
      </p:sp>
      <p:sp>
        <p:nvSpPr>
          <p:cNvPr id="6" name="Marcador de pie de página 5">
            <a:extLst>
              <a:ext uri="{FF2B5EF4-FFF2-40B4-BE49-F238E27FC236}">
                <a16:creationId xmlns:a16="http://schemas.microsoft.com/office/drawing/2014/main" id="{F65C709C-CF87-F872-9FC0-A472E1733306}"/>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7C2607A7-5329-B8AE-9FF7-43B15B5DD4B3}"/>
              </a:ext>
            </a:extLst>
          </p:cNvPr>
          <p:cNvSpPr>
            <a:spLocks noGrp="1"/>
          </p:cNvSpPr>
          <p:nvPr>
            <p:ph type="sldNum" sz="quarter" idx="12"/>
          </p:nvPr>
        </p:nvSpPr>
        <p:spPr/>
        <p:txBody>
          <a:bodyPr/>
          <a:lstStyle/>
          <a:p>
            <a:fld id="{44B3E8B3-BE6F-4FC2-B8BD-9BA67987634D}" type="slidenum">
              <a:rPr lang="es-CO" smtClean="0"/>
              <a:t>‹Nº›</a:t>
            </a:fld>
            <a:endParaRPr lang="es-CO"/>
          </a:p>
        </p:txBody>
      </p:sp>
    </p:spTree>
    <p:extLst>
      <p:ext uri="{BB962C8B-B14F-4D97-AF65-F5344CB8AC3E}">
        <p14:creationId xmlns:p14="http://schemas.microsoft.com/office/powerpoint/2010/main" val="4557909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7BC173-9634-45BF-403D-5694288A1BFC}"/>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texto vertical 2">
            <a:extLst>
              <a:ext uri="{FF2B5EF4-FFF2-40B4-BE49-F238E27FC236}">
                <a16:creationId xmlns:a16="http://schemas.microsoft.com/office/drawing/2014/main" id="{61FE328E-ECC9-13FC-069C-1A9D97B2F6E7}"/>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4DC91440-8724-2000-1462-EB57D179C4F6}"/>
              </a:ext>
            </a:extLst>
          </p:cNvPr>
          <p:cNvSpPr>
            <a:spLocks noGrp="1"/>
          </p:cNvSpPr>
          <p:nvPr>
            <p:ph type="dt" sz="half" idx="10"/>
          </p:nvPr>
        </p:nvSpPr>
        <p:spPr/>
        <p:txBody>
          <a:bodyPr/>
          <a:lstStyle/>
          <a:p>
            <a:fld id="{53CA9640-032B-4E00-A808-5D1093F3F478}" type="datetimeFigureOut">
              <a:rPr lang="es-CO" smtClean="0"/>
              <a:t>2/02/2026</a:t>
            </a:fld>
            <a:endParaRPr lang="es-CO"/>
          </a:p>
        </p:txBody>
      </p:sp>
      <p:sp>
        <p:nvSpPr>
          <p:cNvPr id="5" name="Marcador de pie de página 4">
            <a:extLst>
              <a:ext uri="{FF2B5EF4-FFF2-40B4-BE49-F238E27FC236}">
                <a16:creationId xmlns:a16="http://schemas.microsoft.com/office/drawing/2014/main" id="{5D398810-9CB0-09F0-95B1-8A7F66E18A50}"/>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59AD6519-A958-A384-8168-CD55CF33ACE9}"/>
              </a:ext>
            </a:extLst>
          </p:cNvPr>
          <p:cNvSpPr>
            <a:spLocks noGrp="1"/>
          </p:cNvSpPr>
          <p:nvPr>
            <p:ph type="sldNum" sz="quarter" idx="12"/>
          </p:nvPr>
        </p:nvSpPr>
        <p:spPr/>
        <p:txBody>
          <a:bodyPr/>
          <a:lstStyle/>
          <a:p>
            <a:fld id="{44B3E8B3-BE6F-4FC2-B8BD-9BA67987634D}" type="slidenum">
              <a:rPr lang="es-CO" smtClean="0"/>
              <a:t>‹Nº›</a:t>
            </a:fld>
            <a:endParaRPr lang="es-CO"/>
          </a:p>
        </p:txBody>
      </p:sp>
    </p:spTree>
    <p:extLst>
      <p:ext uri="{BB962C8B-B14F-4D97-AF65-F5344CB8AC3E}">
        <p14:creationId xmlns:p14="http://schemas.microsoft.com/office/powerpoint/2010/main" val="5018235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341985D-2582-6CD0-D86B-8BFD8DFF4AC9}"/>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endParaRPr lang="es-CO"/>
          </a:p>
        </p:txBody>
      </p:sp>
      <p:sp>
        <p:nvSpPr>
          <p:cNvPr id="3" name="Marcador de texto vertical 2">
            <a:extLst>
              <a:ext uri="{FF2B5EF4-FFF2-40B4-BE49-F238E27FC236}">
                <a16:creationId xmlns:a16="http://schemas.microsoft.com/office/drawing/2014/main" id="{E7A5DEDD-33B1-913C-D6F1-C54CD228C4C5}"/>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2AD25F2F-F008-13D5-55ED-26C15B196808}"/>
              </a:ext>
            </a:extLst>
          </p:cNvPr>
          <p:cNvSpPr>
            <a:spLocks noGrp="1"/>
          </p:cNvSpPr>
          <p:nvPr>
            <p:ph type="dt" sz="half" idx="10"/>
          </p:nvPr>
        </p:nvSpPr>
        <p:spPr/>
        <p:txBody>
          <a:bodyPr/>
          <a:lstStyle/>
          <a:p>
            <a:fld id="{53CA9640-032B-4E00-A808-5D1093F3F478}" type="datetimeFigureOut">
              <a:rPr lang="es-CO" smtClean="0"/>
              <a:t>2/02/2026</a:t>
            </a:fld>
            <a:endParaRPr lang="es-CO"/>
          </a:p>
        </p:txBody>
      </p:sp>
      <p:sp>
        <p:nvSpPr>
          <p:cNvPr id="5" name="Marcador de pie de página 4">
            <a:extLst>
              <a:ext uri="{FF2B5EF4-FFF2-40B4-BE49-F238E27FC236}">
                <a16:creationId xmlns:a16="http://schemas.microsoft.com/office/drawing/2014/main" id="{C614337C-C76F-1290-8F11-1BD38C5E39D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CFF2AE06-7D06-12DC-8399-B60354E4DC44}"/>
              </a:ext>
            </a:extLst>
          </p:cNvPr>
          <p:cNvSpPr>
            <a:spLocks noGrp="1"/>
          </p:cNvSpPr>
          <p:nvPr>
            <p:ph type="sldNum" sz="quarter" idx="12"/>
          </p:nvPr>
        </p:nvSpPr>
        <p:spPr/>
        <p:txBody>
          <a:bodyPr/>
          <a:lstStyle/>
          <a:p>
            <a:fld id="{44B3E8B3-BE6F-4FC2-B8BD-9BA67987634D}" type="slidenum">
              <a:rPr lang="es-CO" smtClean="0"/>
              <a:t>‹Nº›</a:t>
            </a:fld>
            <a:endParaRPr lang="es-CO"/>
          </a:p>
        </p:txBody>
      </p:sp>
    </p:spTree>
    <p:extLst>
      <p:ext uri="{BB962C8B-B14F-4D97-AF65-F5344CB8AC3E}">
        <p14:creationId xmlns:p14="http://schemas.microsoft.com/office/powerpoint/2010/main" val="3829803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75092561-6989-E26F-9946-0318EC92771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CO"/>
          </a:p>
        </p:txBody>
      </p:sp>
      <p:sp>
        <p:nvSpPr>
          <p:cNvPr id="3" name="Marcador de texto 2">
            <a:extLst>
              <a:ext uri="{FF2B5EF4-FFF2-40B4-BE49-F238E27FC236}">
                <a16:creationId xmlns:a16="http://schemas.microsoft.com/office/drawing/2014/main" id="{779A3E39-C755-BC71-28B8-1E4F2F86C9B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dirty="0"/>
              <a:t>Haga clic para modificar los estilos de texto del patrón</a:t>
            </a:r>
          </a:p>
          <a:p>
            <a:pPr lvl="1"/>
            <a:r>
              <a:rPr lang="es-MX" dirty="0"/>
              <a:t>Segundo nivel</a:t>
            </a:r>
          </a:p>
          <a:p>
            <a:pPr lvl="2"/>
            <a:r>
              <a:rPr lang="es-MX" dirty="0"/>
              <a:t>Tercer nivel</a:t>
            </a:r>
          </a:p>
          <a:p>
            <a:pPr lvl="3"/>
            <a:r>
              <a:rPr lang="es-MX" dirty="0"/>
              <a:t>Cuarto nivel</a:t>
            </a:r>
          </a:p>
          <a:p>
            <a:pPr lvl="4"/>
            <a:r>
              <a:rPr lang="es-MX" dirty="0"/>
              <a:t>Quinto nivel</a:t>
            </a:r>
            <a:endParaRPr lang="es-CO" dirty="0"/>
          </a:p>
        </p:txBody>
      </p:sp>
      <p:sp>
        <p:nvSpPr>
          <p:cNvPr id="4" name="Marcador de fecha 3">
            <a:extLst>
              <a:ext uri="{FF2B5EF4-FFF2-40B4-BE49-F238E27FC236}">
                <a16:creationId xmlns:a16="http://schemas.microsoft.com/office/drawing/2014/main" id="{14121108-61FF-A282-0C01-56C7D2B9A5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3CA9640-032B-4E00-A808-5D1093F3F478}" type="datetimeFigureOut">
              <a:rPr lang="es-CO" smtClean="0"/>
              <a:t>2/02/2026</a:t>
            </a:fld>
            <a:endParaRPr lang="es-CO"/>
          </a:p>
        </p:txBody>
      </p:sp>
      <p:sp>
        <p:nvSpPr>
          <p:cNvPr id="5" name="Marcador de pie de página 4">
            <a:extLst>
              <a:ext uri="{FF2B5EF4-FFF2-40B4-BE49-F238E27FC236}">
                <a16:creationId xmlns:a16="http://schemas.microsoft.com/office/drawing/2014/main" id="{21B85D54-86A5-34B2-1BC7-0E6620D73F6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a:extLst>
              <a:ext uri="{FF2B5EF4-FFF2-40B4-BE49-F238E27FC236}">
                <a16:creationId xmlns:a16="http://schemas.microsoft.com/office/drawing/2014/main" id="{82124486-1F02-D461-A027-543BF272F81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4B3E8B3-BE6F-4FC2-B8BD-9BA67987634D}" type="slidenum">
              <a:rPr lang="es-CO" smtClean="0"/>
              <a:t>‹Nº›</a:t>
            </a:fld>
            <a:endParaRPr lang="es-CO"/>
          </a:p>
        </p:txBody>
      </p:sp>
      <p:sp>
        <p:nvSpPr>
          <p:cNvPr id="10" name="Rectángulo 9">
            <a:extLst>
              <a:ext uri="{FF2B5EF4-FFF2-40B4-BE49-F238E27FC236}">
                <a16:creationId xmlns:a16="http://schemas.microsoft.com/office/drawing/2014/main" id="{D7E011F2-4337-F6BF-3466-221C44D3A8DC}"/>
              </a:ext>
            </a:extLst>
          </p:cNvPr>
          <p:cNvSpPr/>
          <p:nvPr userDrawn="1"/>
        </p:nvSpPr>
        <p:spPr>
          <a:xfrm>
            <a:off x="698" y="6513468"/>
            <a:ext cx="12192000" cy="352697"/>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a:effectLst>
                  <a:outerShdw blurRad="38100" dist="38100" dir="2700000" algn="tl">
                    <a:srgbClr val="000000">
                      <a:alpha val="43137"/>
                    </a:srgbClr>
                  </a:outerShdw>
                </a:effectLst>
              </a:rPr>
              <a:t>PASIÓN, PROFESIONALISMO Y CALIDEZ</a:t>
            </a:r>
            <a:r>
              <a:rPr lang="es-ES" dirty="0"/>
              <a:t> </a:t>
            </a:r>
            <a:endParaRPr lang="es-CO" dirty="0"/>
          </a:p>
        </p:txBody>
      </p:sp>
      <p:pic>
        <p:nvPicPr>
          <p:cNvPr id="9" name="Imagen 8">
            <a:extLst>
              <a:ext uri="{FF2B5EF4-FFF2-40B4-BE49-F238E27FC236}">
                <a16:creationId xmlns:a16="http://schemas.microsoft.com/office/drawing/2014/main" id="{AFA56771-E455-C0C3-653C-9FAB086A41F1}"/>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0972801" y="-153582"/>
            <a:ext cx="1342222" cy="1342222"/>
          </a:xfrm>
          <a:prstGeom prst="rect">
            <a:avLst/>
          </a:prstGeom>
        </p:spPr>
      </p:pic>
      <p:pic>
        <p:nvPicPr>
          <p:cNvPr id="11" name="Imagen 10">
            <a:extLst>
              <a:ext uri="{FF2B5EF4-FFF2-40B4-BE49-F238E27FC236}">
                <a16:creationId xmlns:a16="http://schemas.microsoft.com/office/drawing/2014/main" id="{6CA6CC86-9116-F847-F1A0-97AA8716F418}"/>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59523" y="-75010"/>
            <a:ext cx="1342221" cy="1342221"/>
          </a:xfrm>
          <a:prstGeom prst="rect">
            <a:avLst/>
          </a:prstGeom>
        </p:spPr>
      </p:pic>
    </p:spTree>
    <p:extLst>
      <p:ext uri="{BB962C8B-B14F-4D97-AF65-F5344CB8AC3E}">
        <p14:creationId xmlns:p14="http://schemas.microsoft.com/office/powerpoint/2010/main" val="386740791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AFC7729-D20B-D364-8CC0-57E9B3B67DC4}"/>
              </a:ext>
            </a:extLst>
          </p:cNvPr>
          <p:cNvSpPr>
            <a:spLocks noGrp="1"/>
          </p:cNvSpPr>
          <p:nvPr>
            <p:ph type="ctrTitle"/>
          </p:nvPr>
        </p:nvSpPr>
        <p:spPr>
          <a:xfrm>
            <a:off x="5347716" y="1318761"/>
            <a:ext cx="6496050" cy="2387600"/>
          </a:xfrm>
        </p:spPr>
        <p:txBody>
          <a:bodyPr>
            <a:normAutofit/>
          </a:bodyPr>
          <a:lstStyle/>
          <a:p>
            <a:pPr algn="l"/>
            <a:r>
              <a:rPr lang="es-MX" b="1" dirty="0">
                <a:latin typeface="Bahnschrift Condensed" panose="020B0502040204020203" pitchFamily="34" charset="0"/>
              </a:rPr>
              <a:t>Caso practico</a:t>
            </a:r>
            <a:endParaRPr lang="es-CO" b="1" dirty="0">
              <a:latin typeface="Bahnschrift Condensed" panose="020B0502040204020203" pitchFamily="34" charset="0"/>
            </a:endParaRPr>
          </a:p>
        </p:txBody>
      </p:sp>
      <p:sp>
        <p:nvSpPr>
          <p:cNvPr id="3" name="Subtítulo 2">
            <a:extLst>
              <a:ext uri="{FF2B5EF4-FFF2-40B4-BE49-F238E27FC236}">
                <a16:creationId xmlns:a16="http://schemas.microsoft.com/office/drawing/2014/main" id="{2FAABA2D-C9C1-A044-D460-E862791F774C}"/>
              </a:ext>
            </a:extLst>
          </p:cNvPr>
          <p:cNvSpPr>
            <a:spLocks noGrp="1"/>
          </p:cNvSpPr>
          <p:nvPr>
            <p:ph type="subTitle" idx="1"/>
          </p:nvPr>
        </p:nvSpPr>
        <p:spPr>
          <a:xfrm>
            <a:off x="5347716" y="3798436"/>
            <a:ext cx="6496050" cy="1655762"/>
          </a:xfrm>
        </p:spPr>
        <p:txBody>
          <a:bodyPr/>
          <a:lstStyle/>
          <a:p>
            <a:pPr algn="l"/>
            <a:r>
              <a:rPr lang="es-MX" b="1" dirty="0">
                <a:latin typeface="Bahnschrift Condensed" panose="020B0502040204020203" pitchFamily="34" charset="0"/>
              </a:rPr>
              <a:t>Cargo: Ingeniero de datos</a:t>
            </a:r>
            <a:endParaRPr lang="es-CO" b="1" dirty="0">
              <a:latin typeface="Bahnschrift Condensed" panose="020B0502040204020203" pitchFamily="34" charset="0"/>
            </a:endParaRPr>
          </a:p>
        </p:txBody>
      </p:sp>
      <p:sp>
        <p:nvSpPr>
          <p:cNvPr id="10" name="Rectángulo 9">
            <a:extLst>
              <a:ext uri="{FF2B5EF4-FFF2-40B4-BE49-F238E27FC236}">
                <a16:creationId xmlns:a16="http://schemas.microsoft.com/office/drawing/2014/main" id="{73DC31DB-4C8A-5B0B-97F9-57593BFB00EC}"/>
              </a:ext>
            </a:extLst>
          </p:cNvPr>
          <p:cNvSpPr/>
          <p:nvPr/>
        </p:nvSpPr>
        <p:spPr>
          <a:xfrm>
            <a:off x="138684" y="6350"/>
            <a:ext cx="912876" cy="10413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1" name="Rectángulo 10">
            <a:extLst>
              <a:ext uri="{FF2B5EF4-FFF2-40B4-BE49-F238E27FC236}">
                <a16:creationId xmlns:a16="http://schemas.microsoft.com/office/drawing/2014/main" id="{557BFD58-B193-C4DB-4BB9-24B3B8E4A5D5}"/>
              </a:ext>
            </a:extLst>
          </p:cNvPr>
          <p:cNvSpPr/>
          <p:nvPr/>
        </p:nvSpPr>
        <p:spPr>
          <a:xfrm>
            <a:off x="11243818" y="4764"/>
            <a:ext cx="935482" cy="10413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grpSp>
        <p:nvGrpSpPr>
          <p:cNvPr id="25" name="Grupo 24">
            <a:extLst>
              <a:ext uri="{FF2B5EF4-FFF2-40B4-BE49-F238E27FC236}">
                <a16:creationId xmlns:a16="http://schemas.microsoft.com/office/drawing/2014/main" id="{336F6C1A-00EE-26FA-BF08-032DA2D0DEDA}"/>
              </a:ext>
            </a:extLst>
          </p:cNvPr>
          <p:cNvGrpSpPr/>
          <p:nvPr/>
        </p:nvGrpSpPr>
        <p:grpSpPr>
          <a:xfrm>
            <a:off x="1216152" y="1590039"/>
            <a:ext cx="3600000" cy="3600000"/>
            <a:chOff x="941832" y="1041399"/>
            <a:chExt cx="4107888" cy="4243464"/>
          </a:xfrm>
        </p:grpSpPr>
        <p:pic>
          <p:nvPicPr>
            <p:cNvPr id="7" name="Imagen 6" descr="Logotipo&#10;&#10;El contenido generado por IA puede ser incorrecto.">
              <a:extLst>
                <a:ext uri="{FF2B5EF4-FFF2-40B4-BE49-F238E27FC236}">
                  <a16:creationId xmlns:a16="http://schemas.microsoft.com/office/drawing/2014/main" id="{A156C07C-DEFA-140B-2C87-3D8B45B43DFE}"/>
                </a:ext>
              </a:extLst>
            </p:cNvPr>
            <p:cNvPicPr>
              <a:picLocks noChangeAspect="1"/>
            </p:cNvPicPr>
            <p:nvPr/>
          </p:nvPicPr>
          <p:blipFill>
            <a:blip r:embed="rId2">
              <a:extLst>
                <a:ext uri="{28A0092B-C50C-407E-A947-70E740481C1C}">
                  <a14:useLocalDpi xmlns:a14="http://schemas.microsoft.com/office/drawing/2010/main" val="0"/>
                </a:ext>
              </a:extLst>
            </a:blip>
            <a:srcRect l="30707" t="17778" r="32494" b="15954"/>
            <a:stretch>
              <a:fillRect/>
            </a:stretch>
          </p:blipFill>
          <p:spPr>
            <a:xfrm>
              <a:off x="2946600" y="3051070"/>
              <a:ext cx="2103120" cy="2130329"/>
            </a:xfrm>
            <a:prstGeom prst="rect">
              <a:avLst/>
            </a:prstGeom>
          </p:spPr>
        </p:pic>
        <p:pic>
          <p:nvPicPr>
            <p:cNvPr id="9" name="Imagen 8" descr="Logotipo&#10;&#10;El contenido generado por IA puede ser incorrecto.">
              <a:extLst>
                <a:ext uri="{FF2B5EF4-FFF2-40B4-BE49-F238E27FC236}">
                  <a16:creationId xmlns:a16="http://schemas.microsoft.com/office/drawing/2014/main" id="{84346259-F17F-7257-6756-ACF5CEB88136}"/>
                </a:ext>
              </a:extLst>
            </p:cNvPr>
            <p:cNvPicPr>
              <a:picLocks noChangeAspect="1"/>
            </p:cNvPicPr>
            <p:nvPr/>
          </p:nvPicPr>
          <p:blipFill>
            <a:blip r:embed="rId3">
              <a:extLst>
                <a:ext uri="{28A0092B-C50C-407E-A947-70E740481C1C}">
                  <a14:useLocalDpi xmlns:a14="http://schemas.microsoft.com/office/drawing/2010/main" val="0"/>
                </a:ext>
              </a:extLst>
            </a:blip>
            <a:srcRect l="31729" t="8818" r="32911" b="16911"/>
            <a:stretch>
              <a:fillRect/>
            </a:stretch>
          </p:blipFill>
          <p:spPr>
            <a:xfrm>
              <a:off x="941832" y="1041399"/>
              <a:ext cx="2020824" cy="2387601"/>
            </a:xfrm>
            <a:prstGeom prst="rect">
              <a:avLst/>
            </a:prstGeom>
          </p:spPr>
        </p:pic>
        <p:cxnSp>
          <p:nvCxnSpPr>
            <p:cNvPr id="24" name="Conector recto 23">
              <a:extLst>
                <a:ext uri="{FF2B5EF4-FFF2-40B4-BE49-F238E27FC236}">
                  <a16:creationId xmlns:a16="http://schemas.microsoft.com/office/drawing/2014/main" id="{B81D28FB-4CD4-9BFC-ACFB-0C9FD4DA4E8F}"/>
                </a:ext>
              </a:extLst>
            </p:cNvPr>
            <p:cNvCxnSpPr/>
            <p:nvPr/>
          </p:nvCxnSpPr>
          <p:spPr>
            <a:xfrm flipV="1">
              <a:off x="1124712" y="1324863"/>
              <a:ext cx="3780000" cy="3960000"/>
            </a:xfrm>
            <a:prstGeom prst="line">
              <a:avLst/>
            </a:prstGeom>
            <a:ln w="38100">
              <a:solidFill>
                <a:schemeClr val="tx2"/>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516825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45F49-CAA6-EA73-313C-E35FDEBF936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23C57BD-0B0E-935E-DAF0-F0D408E63107}"/>
              </a:ext>
            </a:extLst>
          </p:cNvPr>
          <p:cNvSpPr>
            <a:spLocks noGrp="1"/>
          </p:cNvSpPr>
          <p:nvPr>
            <p:ph type="title"/>
          </p:nvPr>
        </p:nvSpPr>
        <p:spPr>
          <a:xfrm>
            <a:off x="1038225" y="365125"/>
            <a:ext cx="10115550" cy="1325563"/>
          </a:xfrm>
        </p:spPr>
        <p:txBody>
          <a:bodyPr/>
          <a:lstStyle/>
          <a:p>
            <a:pPr algn="ctr"/>
            <a:r>
              <a:rPr lang="es-CO" dirty="0">
                <a:latin typeface="Bahnschrift Condensed" panose="020B0502040204020203" pitchFamily="34" charset="0"/>
              </a:rPr>
              <a:t>Contexto del ejercicio</a:t>
            </a:r>
          </a:p>
        </p:txBody>
      </p:sp>
      <p:sp>
        <p:nvSpPr>
          <p:cNvPr id="3" name="Marcador de contenido 2">
            <a:extLst>
              <a:ext uri="{FF2B5EF4-FFF2-40B4-BE49-F238E27FC236}">
                <a16:creationId xmlns:a16="http://schemas.microsoft.com/office/drawing/2014/main" id="{DB6F8FE7-6232-C143-AA68-79E13DE851D1}"/>
              </a:ext>
            </a:extLst>
          </p:cNvPr>
          <p:cNvSpPr>
            <a:spLocks noGrp="1"/>
          </p:cNvSpPr>
          <p:nvPr>
            <p:ph idx="1"/>
          </p:nvPr>
        </p:nvSpPr>
        <p:spPr/>
        <p:txBody>
          <a:bodyPr>
            <a:normAutofit/>
          </a:bodyPr>
          <a:lstStyle/>
          <a:p>
            <a:pPr marL="0" indent="0" algn="just">
              <a:buNone/>
            </a:pPr>
            <a:r>
              <a:rPr lang="es-MX" sz="1800" dirty="0"/>
              <a:t>Este caso practico tiene como objetivo evaluar sus competencias como </a:t>
            </a:r>
            <a:r>
              <a:rPr lang="es-MX" sz="1800" b="1" dirty="0"/>
              <a:t>Ingeniero de Datos</a:t>
            </a:r>
            <a:r>
              <a:rPr lang="es-MX" sz="1800" dirty="0"/>
              <a:t>, específicamente en el diseño e implementación de pipelines de datos bajo una </a:t>
            </a:r>
            <a:r>
              <a:rPr lang="es-MX" sz="1800" b="1" dirty="0"/>
              <a:t>arquitectura </a:t>
            </a:r>
            <a:r>
              <a:rPr lang="es-MX" sz="1800" b="1" dirty="0" err="1"/>
              <a:t>Medallion</a:t>
            </a:r>
            <a:r>
              <a:rPr lang="es-MX" sz="1800" b="1" dirty="0"/>
              <a:t> (</a:t>
            </a:r>
            <a:r>
              <a:rPr lang="es-MX" sz="1800" b="1" dirty="0" err="1"/>
              <a:t>Bronze</a:t>
            </a:r>
            <a:r>
              <a:rPr lang="es-MX" sz="1800" b="1" dirty="0"/>
              <a:t> – Silver – Gold)</a:t>
            </a:r>
            <a:r>
              <a:rPr lang="es-MX" sz="1800" dirty="0"/>
              <a:t>. El ejercicio está inspirado en escenarios reales del sector financiero/crediticio y busca evaluar no solo la capacidad técnica, sino también el criterio de diseño, manejo de calidad de datos y entendimiento del ciclo completo de los datos. </a:t>
            </a:r>
          </a:p>
          <a:p>
            <a:pPr marL="0" indent="0" algn="just">
              <a:buNone/>
            </a:pPr>
            <a:endParaRPr lang="es-MX" sz="1800" dirty="0"/>
          </a:p>
          <a:p>
            <a:pPr marL="0" indent="0" algn="just">
              <a:buNone/>
            </a:pPr>
            <a:r>
              <a:rPr lang="es-MX" sz="1800" b="1" dirty="0"/>
              <a:t>Alcance y lineamientos generales:</a:t>
            </a:r>
          </a:p>
          <a:p>
            <a:pPr lvl="1" algn="just"/>
            <a:r>
              <a:rPr lang="es-MX" sz="1400" dirty="0"/>
              <a:t>Todo el desarrollo debe ejecutarse localmente.</a:t>
            </a:r>
          </a:p>
          <a:p>
            <a:pPr lvl="1" algn="just"/>
            <a:r>
              <a:rPr lang="es-MX" sz="1400" dirty="0"/>
              <a:t>El </a:t>
            </a:r>
            <a:r>
              <a:rPr lang="es-MX" sz="1400" dirty="0" err="1"/>
              <a:t>stack</a:t>
            </a:r>
            <a:r>
              <a:rPr lang="es-MX" sz="1400" dirty="0"/>
              <a:t> esperado es </a:t>
            </a:r>
            <a:r>
              <a:rPr lang="es-MX" sz="1400" b="1" dirty="0"/>
              <a:t>Python + </a:t>
            </a:r>
            <a:r>
              <a:rPr lang="es-MX" sz="1400" b="1" dirty="0" err="1"/>
              <a:t>Spark</a:t>
            </a:r>
            <a:r>
              <a:rPr lang="es-MX" sz="1400" dirty="0"/>
              <a:t>.</a:t>
            </a:r>
          </a:p>
          <a:p>
            <a:pPr lvl="1" algn="just"/>
            <a:r>
              <a:rPr lang="es-MX" sz="1400" dirty="0"/>
              <a:t>No se requiere el uso de servicios </a:t>
            </a:r>
            <a:r>
              <a:rPr lang="es-MX" sz="1400" dirty="0" err="1"/>
              <a:t>cloud</a:t>
            </a:r>
            <a:r>
              <a:rPr lang="es-MX" sz="1400" dirty="0"/>
              <a:t> ni infraestructura distribuida adicional.</a:t>
            </a:r>
          </a:p>
          <a:p>
            <a:pPr lvl="1" algn="just"/>
            <a:r>
              <a:rPr lang="es-MX" sz="1400" dirty="0"/>
              <a:t>El tiempo efectivo estimado de desarrollo es de </a:t>
            </a:r>
            <a:r>
              <a:rPr lang="es-MX" sz="1400" b="1" dirty="0"/>
              <a:t>4 horas</a:t>
            </a:r>
            <a:r>
              <a:rPr lang="es-MX" sz="1400" dirty="0"/>
              <a:t>.</a:t>
            </a:r>
          </a:p>
          <a:p>
            <a:pPr lvl="1" algn="just"/>
            <a:r>
              <a:rPr lang="es-MX" sz="1400" dirty="0"/>
              <a:t>Se valorará la claridad, la simplicidad bien pensada y la robustez.</a:t>
            </a:r>
          </a:p>
        </p:txBody>
      </p:sp>
    </p:spTree>
    <p:extLst>
      <p:ext uri="{BB962C8B-B14F-4D97-AF65-F5344CB8AC3E}">
        <p14:creationId xmlns:p14="http://schemas.microsoft.com/office/powerpoint/2010/main" val="8957559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E8CA6-4E6B-1A37-7069-996552C05AF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CADE75B-A515-AE3D-9489-EA6662DBEE53}"/>
              </a:ext>
            </a:extLst>
          </p:cNvPr>
          <p:cNvSpPr>
            <a:spLocks noGrp="1"/>
          </p:cNvSpPr>
          <p:nvPr>
            <p:ph type="title"/>
          </p:nvPr>
        </p:nvSpPr>
        <p:spPr>
          <a:xfrm>
            <a:off x="1038225" y="365125"/>
            <a:ext cx="10115550" cy="1325563"/>
          </a:xfrm>
        </p:spPr>
        <p:txBody>
          <a:bodyPr/>
          <a:lstStyle/>
          <a:p>
            <a:pPr algn="ctr"/>
            <a:r>
              <a:rPr lang="es-CO" dirty="0">
                <a:latin typeface="Bahnschrift Condensed" panose="020B0502040204020203" pitchFamily="34" charset="0"/>
              </a:rPr>
              <a:t>Entregables</a:t>
            </a:r>
          </a:p>
        </p:txBody>
      </p:sp>
      <p:sp>
        <p:nvSpPr>
          <p:cNvPr id="3" name="Marcador de contenido 2">
            <a:extLst>
              <a:ext uri="{FF2B5EF4-FFF2-40B4-BE49-F238E27FC236}">
                <a16:creationId xmlns:a16="http://schemas.microsoft.com/office/drawing/2014/main" id="{50263DF4-B24D-03AD-C80B-0EB838219BF6}"/>
              </a:ext>
            </a:extLst>
          </p:cNvPr>
          <p:cNvSpPr>
            <a:spLocks noGrp="1"/>
          </p:cNvSpPr>
          <p:nvPr>
            <p:ph idx="1"/>
          </p:nvPr>
        </p:nvSpPr>
        <p:spPr/>
        <p:txBody>
          <a:bodyPr>
            <a:normAutofit/>
          </a:bodyPr>
          <a:lstStyle/>
          <a:p>
            <a:pPr marL="0" indent="0" algn="just">
              <a:buNone/>
            </a:pPr>
            <a:r>
              <a:rPr lang="es-MX" sz="1800" dirty="0"/>
              <a:t>Enviar un correo de respuesta al envío de la prueba con el siguiente contenido:</a:t>
            </a:r>
          </a:p>
          <a:p>
            <a:pPr marL="0" indent="0" algn="just">
              <a:buNone/>
            </a:pPr>
            <a:endParaRPr lang="es-MX" sz="1800" dirty="0"/>
          </a:p>
          <a:p>
            <a:pPr marL="800100" lvl="1" indent="-342900" algn="just">
              <a:buAutoNum type="arabicPeriod"/>
            </a:pPr>
            <a:r>
              <a:rPr lang="es-MX" sz="1800" dirty="0"/>
              <a:t>Código fuente (link repositorio GitHub), incluyendo:         </a:t>
            </a:r>
          </a:p>
          <a:p>
            <a:pPr lvl="2" algn="just"/>
            <a:r>
              <a:rPr lang="es-MX" sz="1800" dirty="0"/>
              <a:t>Estructura clara y modular.</a:t>
            </a:r>
          </a:p>
          <a:p>
            <a:pPr lvl="2" algn="just"/>
            <a:r>
              <a:rPr lang="es-MX" sz="1800" dirty="0"/>
              <a:t>Resultados generados en las capas </a:t>
            </a:r>
            <a:r>
              <a:rPr lang="es-MX" sz="1800" dirty="0" err="1"/>
              <a:t>Bronze</a:t>
            </a:r>
            <a:r>
              <a:rPr lang="es-MX" sz="1800" dirty="0"/>
              <a:t>, Silver y Gold.</a:t>
            </a:r>
          </a:p>
          <a:p>
            <a:pPr lvl="2" algn="just"/>
            <a:r>
              <a:rPr lang="es-MX" sz="1800" dirty="0"/>
              <a:t>Archivo README con instrucciones para ejecutar el pipeline.       </a:t>
            </a:r>
          </a:p>
          <a:p>
            <a:pPr marL="914400" lvl="2" indent="0" algn="just">
              <a:buNone/>
            </a:pPr>
            <a:r>
              <a:rPr lang="es-MX" sz="1200" i="1" dirty="0"/>
              <a:t>Al empezar la prueba debe inicializar el repositorio y hacer un </a:t>
            </a:r>
            <a:r>
              <a:rPr lang="es-MX" sz="1200" i="1" dirty="0" err="1"/>
              <a:t>first</a:t>
            </a:r>
            <a:r>
              <a:rPr lang="es-MX" sz="1200" i="1" dirty="0"/>
              <a:t> </a:t>
            </a:r>
            <a:r>
              <a:rPr lang="es-MX" sz="1200" i="1" dirty="0" err="1"/>
              <a:t>commit</a:t>
            </a:r>
            <a:r>
              <a:rPr lang="es-MX" sz="1200" i="1" dirty="0"/>
              <a:t> que marcará la hora de inicio </a:t>
            </a:r>
            <a:r>
              <a:rPr lang="es-MX" sz="1200" b="1" i="1" dirty="0"/>
              <a:t>(recuerde que cuenta con 4 horas para finalizarla).</a:t>
            </a:r>
            <a:endParaRPr lang="es-MX" sz="1200" dirty="0"/>
          </a:p>
          <a:p>
            <a:pPr marL="800100" lvl="1" indent="-342900" algn="just">
              <a:buFont typeface="+mj-lt"/>
              <a:buAutoNum type="arabicPeriod"/>
            </a:pPr>
            <a:r>
              <a:rPr lang="es-MX" sz="1800" dirty="0"/>
              <a:t>Documento corto (1–2 páginas) con el análisis técnico.</a:t>
            </a:r>
          </a:p>
          <a:p>
            <a:pPr marL="342900" indent="-342900" algn="just">
              <a:buFont typeface="+mj-lt"/>
              <a:buAutoNum type="arabicPeriod"/>
            </a:pPr>
            <a:endParaRPr lang="es-MX" sz="1800" b="1" i="1" dirty="0"/>
          </a:p>
          <a:p>
            <a:pPr marL="0" indent="0" algn="just">
              <a:buNone/>
            </a:pPr>
            <a:r>
              <a:rPr lang="es-MX" sz="1800" dirty="0"/>
              <a:t>Debe realizar la entrega</a:t>
            </a:r>
            <a:r>
              <a:rPr lang="es-MX" sz="1800" b="1" dirty="0"/>
              <a:t> </a:t>
            </a:r>
            <a:r>
              <a:rPr lang="es-MX" sz="1800" dirty="0"/>
              <a:t>antes de las </a:t>
            </a:r>
            <a:r>
              <a:rPr lang="es-MX" sz="1800" b="1" dirty="0"/>
              <a:t>6:00 PM </a:t>
            </a:r>
            <a:r>
              <a:rPr lang="es-MX" sz="1800" dirty="0"/>
              <a:t>del día </a:t>
            </a:r>
            <a:r>
              <a:rPr lang="es-MX" sz="1800" b="1" dirty="0"/>
              <a:t>2 de febrero de 2026</a:t>
            </a:r>
            <a:r>
              <a:rPr lang="es-MX" sz="1800" dirty="0"/>
              <a:t>.</a:t>
            </a:r>
          </a:p>
        </p:txBody>
      </p:sp>
    </p:spTree>
    <p:extLst>
      <p:ext uri="{BB962C8B-B14F-4D97-AF65-F5344CB8AC3E}">
        <p14:creationId xmlns:p14="http://schemas.microsoft.com/office/powerpoint/2010/main" val="33181566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5A8809-032A-BBCF-A41A-A3E6B546B1CD}"/>
              </a:ext>
            </a:extLst>
          </p:cNvPr>
          <p:cNvSpPr>
            <a:spLocks noGrp="1"/>
          </p:cNvSpPr>
          <p:nvPr>
            <p:ph type="title"/>
          </p:nvPr>
        </p:nvSpPr>
        <p:spPr>
          <a:xfrm>
            <a:off x="1038225" y="365125"/>
            <a:ext cx="10115550" cy="1325563"/>
          </a:xfrm>
        </p:spPr>
        <p:txBody>
          <a:bodyPr/>
          <a:lstStyle/>
          <a:p>
            <a:pPr algn="ctr"/>
            <a:r>
              <a:rPr lang="es-CO" dirty="0">
                <a:latin typeface="Bahnschrift Condensed" panose="020B0502040204020203" pitchFamily="34" charset="0"/>
              </a:rPr>
              <a:t>Contexto del caso</a:t>
            </a:r>
          </a:p>
        </p:txBody>
      </p:sp>
      <p:sp>
        <p:nvSpPr>
          <p:cNvPr id="3" name="Marcador de contenido 2">
            <a:extLst>
              <a:ext uri="{FF2B5EF4-FFF2-40B4-BE49-F238E27FC236}">
                <a16:creationId xmlns:a16="http://schemas.microsoft.com/office/drawing/2014/main" id="{1CD66B1E-6D18-B533-AFFE-D14F46ABDA8A}"/>
              </a:ext>
            </a:extLst>
          </p:cNvPr>
          <p:cNvSpPr>
            <a:spLocks noGrp="1"/>
          </p:cNvSpPr>
          <p:nvPr>
            <p:ph idx="1"/>
          </p:nvPr>
        </p:nvSpPr>
        <p:spPr/>
        <p:txBody>
          <a:bodyPr>
            <a:normAutofit/>
          </a:bodyPr>
          <a:lstStyle/>
          <a:p>
            <a:pPr marL="0" indent="0" algn="just">
              <a:buNone/>
            </a:pPr>
            <a:r>
              <a:rPr lang="es-MX" sz="1800" dirty="0"/>
              <a:t>La organización para la cual se desarrolla este ejercicio hace parte del </a:t>
            </a:r>
            <a:r>
              <a:rPr lang="es-MX" sz="1800" b="1" dirty="0"/>
              <a:t>sector financiero</a:t>
            </a:r>
            <a:r>
              <a:rPr lang="es-MX" sz="1800" dirty="0"/>
              <a:t> y acompaña a distintas entidades en la gestión de información relacionada con créditos, cartera y comportamiento de pago. Cada día se generan miles de eventos: desembolsos que inician relaciones comerciales, pagos que reflejan el compromiso de los clientes y señales tempranas de mora que requieren atención oportuna.</a:t>
            </a:r>
          </a:p>
          <a:p>
            <a:pPr marL="0" indent="0" algn="just">
              <a:buNone/>
            </a:pPr>
            <a:r>
              <a:rPr lang="es-MX" sz="1800" dirty="0"/>
              <a:t>Esta información llega desde múltiples fuentes, en distintos momentos y con diferentes niveles de calidad. Algunos datos llegan completos y ordenados; otros, incompletos, duplicados o fuera de tiempo. Aun así, todos son valiosos: unos sirven para entender lo que está pasando ahora, otros para reconstruir el pasado y otros para anticipar riesgos futuros.</a:t>
            </a:r>
          </a:p>
          <a:p>
            <a:pPr marL="0" indent="0" algn="just">
              <a:buNone/>
            </a:pPr>
            <a:r>
              <a:rPr lang="es-MX" sz="1800" dirty="0"/>
              <a:t>Con el crecimiento del negocio, surge la necesidad de organizar este flujo constante de información de forma estructurada. La organización busca conservar los datos tal como llegan, depurarlos progresivamente y, finalmente, transformarlos en información clara y confiable que apoye el análisis, el monitoreo del riesgo y la toma de decisiones estratégicas.</a:t>
            </a:r>
          </a:p>
        </p:txBody>
      </p:sp>
    </p:spTree>
    <p:extLst>
      <p:ext uri="{BB962C8B-B14F-4D97-AF65-F5344CB8AC3E}">
        <p14:creationId xmlns:p14="http://schemas.microsoft.com/office/powerpoint/2010/main" val="25191642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75CB9-A528-8C1F-9254-346AF740D0C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BEB429A-645F-0145-C543-56A229C5A334}"/>
              </a:ext>
            </a:extLst>
          </p:cNvPr>
          <p:cNvSpPr>
            <a:spLocks noGrp="1"/>
          </p:cNvSpPr>
          <p:nvPr>
            <p:ph type="title"/>
          </p:nvPr>
        </p:nvSpPr>
        <p:spPr/>
        <p:txBody>
          <a:bodyPr/>
          <a:lstStyle/>
          <a:p>
            <a:pPr algn="ctr"/>
            <a:r>
              <a:rPr lang="es-CO" dirty="0">
                <a:latin typeface="Bahnschrift Condensed" panose="020B0502040204020203" pitchFamily="34" charset="0"/>
              </a:rPr>
              <a:t>Descripción del ejercicio</a:t>
            </a:r>
          </a:p>
        </p:txBody>
      </p:sp>
      <p:sp>
        <p:nvSpPr>
          <p:cNvPr id="5" name="Marcador de texto 4">
            <a:extLst>
              <a:ext uri="{FF2B5EF4-FFF2-40B4-BE49-F238E27FC236}">
                <a16:creationId xmlns:a16="http://schemas.microsoft.com/office/drawing/2014/main" id="{9B7FF6AB-6EDD-3790-C827-AE4F8D6E7E65}"/>
              </a:ext>
            </a:extLst>
          </p:cNvPr>
          <p:cNvSpPr>
            <a:spLocks noGrp="1"/>
          </p:cNvSpPr>
          <p:nvPr>
            <p:ph type="body" idx="1"/>
          </p:nvPr>
        </p:nvSpPr>
        <p:spPr/>
        <p:txBody>
          <a:bodyPr/>
          <a:lstStyle/>
          <a:p>
            <a:r>
              <a:rPr lang="es-MX" dirty="0"/>
              <a:t>Parte 1 : Simulación de llegada de datos (</a:t>
            </a:r>
            <a:r>
              <a:rPr lang="es-MX" dirty="0" err="1"/>
              <a:t>streaming</a:t>
            </a:r>
            <a:r>
              <a:rPr lang="es-MX" dirty="0"/>
              <a:t>)</a:t>
            </a:r>
          </a:p>
        </p:txBody>
      </p:sp>
      <p:sp>
        <p:nvSpPr>
          <p:cNvPr id="3" name="Marcador de contenido 2">
            <a:extLst>
              <a:ext uri="{FF2B5EF4-FFF2-40B4-BE49-F238E27FC236}">
                <a16:creationId xmlns:a16="http://schemas.microsoft.com/office/drawing/2014/main" id="{48A073B8-7ECF-204F-9042-3694C1CD846F}"/>
              </a:ext>
            </a:extLst>
          </p:cNvPr>
          <p:cNvSpPr>
            <a:spLocks noGrp="1"/>
          </p:cNvSpPr>
          <p:nvPr>
            <p:ph sz="half" idx="2"/>
          </p:nvPr>
        </p:nvSpPr>
        <p:spPr/>
        <p:txBody>
          <a:bodyPr>
            <a:normAutofit/>
          </a:bodyPr>
          <a:lstStyle/>
          <a:p>
            <a:pPr marL="0" indent="0" algn="just">
              <a:buNone/>
            </a:pPr>
            <a:r>
              <a:rPr lang="es-MX" sz="1600" dirty="0"/>
              <a:t>A partir del </a:t>
            </a:r>
            <a:r>
              <a:rPr lang="es-MX" sz="1600" dirty="0" err="1"/>
              <a:t>dataset</a:t>
            </a:r>
            <a:r>
              <a:rPr lang="es-MX" sz="1600" dirty="0"/>
              <a:t> entregado, debes simular la llegada incremental de datos en el tiempo.</a:t>
            </a:r>
          </a:p>
          <a:p>
            <a:pPr marL="0" indent="0" algn="just">
              <a:buNone/>
            </a:pPr>
            <a:r>
              <a:rPr lang="es-MX" sz="1600" dirty="0"/>
              <a:t>Requisitos:</a:t>
            </a:r>
          </a:p>
          <a:p>
            <a:pPr algn="just"/>
            <a:r>
              <a:rPr lang="es-MX" sz="1600" dirty="0"/>
              <a:t>Ingesta de datos de forma incremental (por ejemplo, 1 registro por segundo).    </a:t>
            </a:r>
          </a:p>
          <a:p>
            <a:pPr algn="just"/>
            <a:r>
              <a:rPr lang="es-MX" sz="1600" dirty="0"/>
              <a:t>La simulación puede realizarse mediante escritura incremental de archivos (</a:t>
            </a:r>
            <a:r>
              <a:rPr lang="es-MX" sz="1600" dirty="0" err="1"/>
              <a:t>micro-batches</a:t>
            </a:r>
            <a:r>
              <a:rPr lang="es-MX" sz="1600" dirty="0"/>
              <a:t>).    </a:t>
            </a:r>
          </a:p>
          <a:p>
            <a:pPr algn="just"/>
            <a:r>
              <a:rPr lang="es-MX" sz="1600" dirty="0"/>
              <a:t>No es obligatorio el uso de sistemas de mensajería (Kafka u otros).    </a:t>
            </a:r>
          </a:p>
          <a:p>
            <a:pPr marL="0" indent="0" algn="just">
              <a:buNone/>
            </a:pPr>
            <a:r>
              <a:rPr lang="es-MX" sz="1600" dirty="0"/>
              <a:t>Objetivo: simular un escenario de ingesta continua de eventos.</a:t>
            </a:r>
          </a:p>
        </p:txBody>
      </p:sp>
      <p:sp>
        <p:nvSpPr>
          <p:cNvPr id="6" name="Marcador de texto 5">
            <a:extLst>
              <a:ext uri="{FF2B5EF4-FFF2-40B4-BE49-F238E27FC236}">
                <a16:creationId xmlns:a16="http://schemas.microsoft.com/office/drawing/2014/main" id="{B5F91B88-76F3-7451-9469-DACB19D67530}"/>
              </a:ext>
            </a:extLst>
          </p:cNvPr>
          <p:cNvSpPr>
            <a:spLocks noGrp="1"/>
          </p:cNvSpPr>
          <p:nvPr>
            <p:ph type="body" sz="quarter" idx="3"/>
          </p:nvPr>
        </p:nvSpPr>
        <p:spPr/>
        <p:txBody>
          <a:bodyPr/>
          <a:lstStyle/>
          <a:p>
            <a:r>
              <a:rPr lang="es-MX" dirty="0"/>
              <a:t>Parte 2 – Capa </a:t>
            </a:r>
            <a:r>
              <a:rPr lang="es-MX" dirty="0" err="1"/>
              <a:t>Bronze</a:t>
            </a:r>
            <a:r>
              <a:rPr lang="es-MX" dirty="0"/>
              <a:t> (datos sin procesar)</a:t>
            </a:r>
            <a:endParaRPr lang="es-CO" dirty="0"/>
          </a:p>
        </p:txBody>
      </p:sp>
      <p:sp>
        <p:nvSpPr>
          <p:cNvPr id="7" name="Marcador de contenido 6">
            <a:extLst>
              <a:ext uri="{FF2B5EF4-FFF2-40B4-BE49-F238E27FC236}">
                <a16:creationId xmlns:a16="http://schemas.microsoft.com/office/drawing/2014/main" id="{E3C1275F-124E-3E28-CCAA-2780DD06AB3B}"/>
              </a:ext>
            </a:extLst>
          </p:cNvPr>
          <p:cNvSpPr>
            <a:spLocks noGrp="1"/>
          </p:cNvSpPr>
          <p:nvPr>
            <p:ph sz="quarter" idx="4"/>
          </p:nvPr>
        </p:nvSpPr>
        <p:spPr/>
        <p:txBody>
          <a:bodyPr>
            <a:normAutofit/>
          </a:bodyPr>
          <a:lstStyle/>
          <a:p>
            <a:pPr marL="0" indent="0">
              <a:buNone/>
            </a:pPr>
            <a:r>
              <a:rPr lang="es-MX" sz="1600" dirty="0"/>
              <a:t>Los datos recibidos deben almacenarse en una capa </a:t>
            </a:r>
            <a:r>
              <a:rPr lang="es-MX" sz="1600" b="1" dirty="0" err="1"/>
              <a:t>Bronze</a:t>
            </a:r>
            <a:r>
              <a:rPr lang="es-MX" sz="1600" dirty="0"/>
              <a:t>, representando la información cruda.</a:t>
            </a:r>
          </a:p>
          <a:p>
            <a:pPr marL="0" indent="0">
              <a:buNone/>
            </a:pPr>
            <a:r>
              <a:rPr lang="es-MX" sz="1600" dirty="0"/>
              <a:t>Requisitos:</a:t>
            </a:r>
          </a:p>
          <a:p>
            <a:r>
              <a:rPr lang="es-MX" sz="1600" dirty="0"/>
              <a:t>Almacenamiento en formato columnar (</a:t>
            </a:r>
            <a:r>
              <a:rPr lang="es-MX" sz="1600" dirty="0" err="1"/>
              <a:t>Parquet</a:t>
            </a:r>
            <a:r>
              <a:rPr lang="es-MX" sz="1600" dirty="0"/>
              <a:t> recomendado). </a:t>
            </a:r>
          </a:p>
          <a:p>
            <a:r>
              <a:rPr lang="es-MX" sz="1600" dirty="0"/>
              <a:t>La capa debe ser inmutable.</a:t>
            </a:r>
          </a:p>
          <a:p>
            <a:r>
              <a:rPr lang="es-MX" sz="1600" dirty="0"/>
              <a:t>Inclusión de metadatos básicos de ingesta (</a:t>
            </a:r>
            <a:r>
              <a:rPr lang="es-MX" sz="1600" dirty="0" err="1"/>
              <a:t>timestamp</a:t>
            </a:r>
            <a:r>
              <a:rPr lang="es-MX" sz="1600" dirty="0"/>
              <a:t>, </a:t>
            </a:r>
            <a:r>
              <a:rPr lang="es-MX" sz="1600" dirty="0" err="1"/>
              <a:t>batch</a:t>
            </a:r>
            <a:r>
              <a:rPr lang="es-MX" sz="1600" dirty="0"/>
              <a:t>, etc.).</a:t>
            </a:r>
          </a:p>
          <a:p>
            <a:r>
              <a:rPr lang="es-MX" sz="1600" dirty="0"/>
              <a:t>Particionado razonable (por fecha de ingesta o evento).</a:t>
            </a:r>
            <a:endParaRPr lang="es-CO" sz="1600" dirty="0"/>
          </a:p>
        </p:txBody>
      </p:sp>
    </p:spTree>
    <p:extLst>
      <p:ext uri="{BB962C8B-B14F-4D97-AF65-F5344CB8AC3E}">
        <p14:creationId xmlns:p14="http://schemas.microsoft.com/office/powerpoint/2010/main" val="23061354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EA528-DD86-D864-1A90-F123E496571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026DA0A-3BE1-10D8-6BDA-B4950326F97B}"/>
              </a:ext>
            </a:extLst>
          </p:cNvPr>
          <p:cNvSpPr>
            <a:spLocks noGrp="1"/>
          </p:cNvSpPr>
          <p:nvPr>
            <p:ph type="title"/>
          </p:nvPr>
        </p:nvSpPr>
        <p:spPr/>
        <p:txBody>
          <a:bodyPr/>
          <a:lstStyle/>
          <a:p>
            <a:pPr algn="ctr"/>
            <a:r>
              <a:rPr lang="es-CO" dirty="0">
                <a:latin typeface="Bahnschrift Condensed" panose="020B0502040204020203" pitchFamily="34" charset="0"/>
              </a:rPr>
              <a:t>Descripción del ejercicio</a:t>
            </a:r>
          </a:p>
        </p:txBody>
      </p:sp>
      <p:sp>
        <p:nvSpPr>
          <p:cNvPr id="5" name="Marcador de texto 4">
            <a:extLst>
              <a:ext uri="{FF2B5EF4-FFF2-40B4-BE49-F238E27FC236}">
                <a16:creationId xmlns:a16="http://schemas.microsoft.com/office/drawing/2014/main" id="{B4789A58-E6AA-31F8-F663-08593DD1A567}"/>
              </a:ext>
            </a:extLst>
          </p:cNvPr>
          <p:cNvSpPr>
            <a:spLocks noGrp="1"/>
          </p:cNvSpPr>
          <p:nvPr>
            <p:ph type="body" idx="1"/>
          </p:nvPr>
        </p:nvSpPr>
        <p:spPr/>
        <p:txBody>
          <a:bodyPr>
            <a:normAutofit fontScale="92500"/>
          </a:bodyPr>
          <a:lstStyle/>
          <a:p>
            <a:r>
              <a:rPr lang="es-MX" dirty="0"/>
              <a:t>Parte 3 – Capa Silver (limpieza y validación)</a:t>
            </a:r>
          </a:p>
        </p:txBody>
      </p:sp>
      <p:sp>
        <p:nvSpPr>
          <p:cNvPr id="3" name="Marcador de contenido 2">
            <a:extLst>
              <a:ext uri="{FF2B5EF4-FFF2-40B4-BE49-F238E27FC236}">
                <a16:creationId xmlns:a16="http://schemas.microsoft.com/office/drawing/2014/main" id="{68A0FC87-AF37-C3CE-EACF-CFAA018ADA1B}"/>
              </a:ext>
            </a:extLst>
          </p:cNvPr>
          <p:cNvSpPr>
            <a:spLocks noGrp="1"/>
          </p:cNvSpPr>
          <p:nvPr>
            <p:ph sz="half" idx="2"/>
          </p:nvPr>
        </p:nvSpPr>
        <p:spPr/>
        <p:txBody>
          <a:bodyPr>
            <a:normAutofit/>
          </a:bodyPr>
          <a:lstStyle/>
          <a:p>
            <a:pPr marL="0" indent="0" algn="just">
              <a:buNone/>
            </a:pPr>
            <a:r>
              <a:rPr lang="es-MX" sz="1600" dirty="0"/>
              <a:t>A partir de la capa </a:t>
            </a:r>
            <a:r>
              <a:rPr lang="es-MX" sz="1600" b="1" dirty="0" err="1"/>
              <a:t>Bronze</a:t>
            </a:r>
            <a:r>
              <a:rPr lang="es-MX" sz="1600" dirty="0"/>
              <a:t>, debes construir la capa </a:t>
            </a:r>
            <a:r>
              <a:rPr lang="es-MX" sz="1600" b="1" dirty="0"/>
              <a:t>Silver</a:t>
            </a:r>
            <a:r>
              <a:rPr lang="es-MX" sz="1600" dirty="0"/>
              <a:t>, aplicando reglas de calidad y validación.</a:t>
            </a:r>
          </a:p>
          <a:p>
            <a:pPr marL="0" indent="0" algn="just">
              <a:buNone/>
            </a:pPr>
            <a:r>
              <a:rPr lang="es-MX" sz="1600" dirty="0"/>
              <a:t>Requisitos:</a:t>
            </a:r>
          </a:p>
          <a:p>
            <a:pPr algn="just"/>
            <a:r>
              <a:rPr lang="es-MX" sz="1600" dirty="0"/>
              <a:t>Validación de esquema y tipos de datos.</a:t>
            </a:r>
          </a:p>
          <a:p>
            <a:pPr algn="just"/>
            <a:r>
              <a:rPr lang="es-MX" sz="1600" dirty="0"/>
              <a:t>Reglas básicas de calidad (rangos válidos, consistencia).</a:t>
            </a:r>
          </a:p>
          <a:p>
            <a:pPr algn="just"/>
            <a:r>
              <a:rPr lang="es-MX" sz="1600" dirty="0"/>
              <a:t>Eliminación de duplicados según una llave definida.</a:t>
            </a:r>
          </a:p>
          <a:p>
            <a:pPr algn="just"/>
            <a:r>
              <a:rPr lang="es-MX" sz="1600" dirty="0"/>
              <a:t>Manejo explícito de registros inválidos (por ejemplo, cuarentena).</a:t>
            </a:r>
          </a:p>
          <a:p>
            <a:pPr algn="just"/>
            <a:r>
              <a:rPr lang="es-MX" sz="1600" dirty="0"/>
              <a:t>Generación de métricas básicas de calidad de datos.</a:t>
            </a:r>
          </a:p>
        </p:txBody>
      </p:sp>
      <p:sp>
        <p:nvSpPr>
          <p:cNvPr id="6" name="Marcador de texto 5">
            <a:extLst>
              <a:ext uri="{FF2B5EF4-FFF2-40B4-BE49-F238E27FC236}">
                <a16:creationId xmlns:a16="http://schemas.microsoft.com/office/drawing/2014/main" id="{E9DD6987-C9B4-A41E-85AC-172653612415}"/>
              </a:ext>
            </a:extLst>
          </p:cNvPr>
          <p:cNvSpPr>
            <a:spLocks noGrp="1"/>
          </p:cNvSpPr>
          <p:nvPr>
            <p:ph type="body" sz="quarter" idx="3"/>
          </p:nvPr>
        </p:nvSpPr>
        <p:spPr/>
        <p:txBody>
          <a:bodyPr>
            <a:normAutofit fontScale="92500"/>
          </a:bodyPr>
          <a:lstStyle/>
          <a:p>
            <a:r>
              <a:rPr lang="es-MX" dirty="0"/>
              <a:t>Parte 4 – Capa Gold (enriquecimiento y producto de datos)</a:t>
            </a:r>
            <a:endParaRPr lang="es-CO" dirty="0"/>
          </a:p>
        </p:txBody>
      </p:sp>
      <p:sp>
        <p:nvSpPr>
          <p:cNvPr id="7" name="Marcador de contenido 6">
            <a:extLst>
              <a:ext uri="{FF2B5EF4-FFF2-40B4-BE49-F238E27FC236}">
                <a16:creationId xmlns:a16="http://schemas.microsoft.com/office/drawing/2014/main" id="{D5724A8E-F6CE-41EC-716B-46DAB838B608}"/>
              </a:ext>
            </a:extLst>
          </p:cNvPr>
          <p:cNvSpPr>
            <a:spLocks noGrp="1"/>
          </p:cNvSpPr>
          <p:nvPr>
            <p:ph sz="quarter" idx="4"/>
          </p:nvPr>
        </p:nvSpPr>
        <p:spPr/>
        <p:txBody>
          <a:bodyPr>
            <a:normAutofit/>
          </a:bodyPr>
          <a:lstStyle/>
          <a:p>
            <a:pPr marL="0" indent="0">
              <a:buNone/>
            </a:pPr>
            <a:r>
              <a:rPr lang="es-MX" sz="1600" dirty="0"/>
              <a:t>La capa </a:t>
            </a:r>
            <a:r>
              <a:rPr lang="es-MX" sz="1600" b="1" dirty="0"/>
              <a:t>Gold</a:t>
            </a:r>
            <a:r>
              <a:rPr lang="es-MX" sz="1600" dirty="0"/>
              <a:t> debe contener datos listos para consumo analítico.</a:t>
            </a:r>
          </a:p>
          <a:p>
            <a:pPr marL="0" indent="0">
              <a:buNone/>
            </a:pPr>
            <a:r>
              <a:rPr lang="es-MX" sz="1600" dirty="0"/>
              <a:t>Requisitos:</a:t>
            </a:r>
          </a:p>
          <a:p>
            <a:r>
              <a:rPr lang="es-MX" sz="1600" dirty="0"/>
              <a:t>Enriquecimiento de los datos usando: </a:t>
            </a:r>
          </a:p>
          <a:p>
            <a:pPr lvl="1"/>
            <a:r>
              <a:rPr lang="es-MX" sz="1600" dirty="0"/>
              <a:t>Un </a:t>
            </a:r>
            <a:r>
              <a:rPr lang="es-MX" sz="1600" dirty="0" err="1"/>
              <a:t>dataset</a:t>
            </a:r>
            <a:r>
              <a:rPr lang="es-MX" sz="1600" dirty="0"/>
              <a:t> adicional entregado, y/o Información derivada de los propios datos.</a:t>
            </a:r>
          </a:p>
          <a:p>
            <a:r>
              <a:rPr lang="es-MX" sz="1600" dirty="0"/>
              <a:t>Implementación de reglas de negocio básicas.</a:t>
            </a:r>
          </a:p>
          <a:p>
            <a:r>
              <a:rPr lang="es-MX" sz="1600" dirty="0"/>
              <a:t>Construcción de al menos </a:t>
            </a:r>
            <a:r>
              <a:rPr lang="es-MX" sz="1600" b="1" dirty="0"/>
              <a:t>dos productos de datos</a:t>
            </a:r>
            <a:r>
              <a:rPr lang="es-MX" sz="1600" dirty="0"/>
              <a:t>, por ejemplo:</a:t>
            </a:r>
          </a:p>
          <a:p>
            <a:pPr lvl="1"/>
            <a:r>
              <a:rPr lang="es-MX" sz="1600" dirty="0"/>
              <a:t>Métricas agregadas por cosecha/cohorte.</a:t>
            </a:r>
          </a:p>
          <a:p>
            <a:pPr lvl="1"/>
            <a:r>
              <a:rPr lang="es-MX" sz="1600" dirty="0"/>
              <a:t>Vista consolidada del estado actual de los créditos.</a:t>
            </a:r>
            <a:endParaRPr lang="es-CO" sz="1600" dirty="0"/>
          </a:p>
        </p:txBody>
      </p:sp>
    </p:spTree>
    <p:extLst>
      <p:ext uri="{BB962C8B-B14F-4D97-AF65-F5344CB8AC3E}">
        <p14:creationId xmlns:p14="http://schemas.microsoft.com/office/powerpoint/2010/main" val="12590523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6D0F4-3944-6BEF-3C87-75034837A4B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CCEEDF5-699F-5607-2591-2F1D01A9FDA1}"/>
              </a:ext>
            </a:extLst>
          </p:cNvPr>
          <p:cNvSpPr>
            <a:spLocks noGrp="1"/>
          </p:cNvSpPr>
          <p:nvPr>
            <p:ph type="title"/>
          </p:nvPr>
        </p:nvSpPr>
        <p:spPr/>
        <p:txBody>
          <a:bodyPr/>
          <a:lstStyle/>
          <a:p>
            <a:pPr algn="ctr"/>
            <a:r>
              <a:rPr lang="es-CO" dirty="0">
                <a:latin typeface="Bahnschrift Condensed" panose="020B0502040204020203" pitchFamily="34" charset="0"/>
              </a:rPr>
              <a:t>Descripción del ejercicio</a:t>
            </a:r>
          </a:p>
        </p:txBody>
      </p:sp>
      <p:sp>
        <p:nvSpPr>
          <p:cNvPr id="5" name="Marcador de texto 4">
            <a:extLst>
              <a:ext uri="{FF2B5EF4-FFF2-40B4-BE49-F238E27FC236}">
                <a16:creationId xmlns:a16="http://schemas.microsoft.com/office/drawing/2014/main" id="{6166F043-8D3A-63A7-D932-C86CAA28C52C}"/>
              </a:ext>
            </a:extLst>
          </p:cNvPr>
          <p:cNvSpPr>
            <a:spLocks noGrp="1"/>
          </p:cNvSpPr>
          <p:nvPr>
            <p:ph type="body" idx="1"/>
          </p:nvPr>
        </p:nvSpPr>
        <p:spPr>
          <a:xfrm>
            <a:off x="839788" y="1370013"/>
            <a:ext cx="10512424" cy="823912"/>
          </a:xfrm>
        </p:spPr>
        <p:txBody>
          <a:bodyPr anchor="ctr">
            <a:normAutofit/>
          </a:bodyPr>
          <a:lstStyle/>
          <a:p>
            <a:pPr algn="ctr"/>
            <a:r>
              <a:rPr lang="es-MX" dirty="0"/>
              <a:t>Parte 5 – Reporte y visualización</a:t>
            </a:r>
          </a:p>
        </p:txBody>
      </p:sp>
      <p:sp>
        <p:nvSpPr>
          <p:cNvPr id="3" name="Marcador de contenido 2">
            <a:extLst>
              <a:ext uri="{FF2B5EF4-FFF2-40B4-BE49-F238E27FC236}">
                <a16:creationId xmlns:a16="http://schemas.microsoft.com/office/drawing/2014/main" id="{B6D019A7-F32A-A2A9-432F-A8B34B70046A}"/>
              </a:ext>
            </a:extLst>
          </p:cNvPr>
          <p:cNvSpPr>
            <a:spLocks noGrp="1"/>
          </p:cNvSpPr>
          <p:nvPr>
            <p:ph sz="half" idx="2"/>
          </p:nvPr>
        </p:nvSpPr>
        <p:spPr>
          <a:xfrm>
            <a:off x="852488" y="2193925"/>
            <a:ext cx="5157787" cy="3684588"/>
          </a:xfrm>
        </p:spPr>
        <p:txBody>
          <a:bodyPr>
            <a:noAutofit/>
          </a:bodyPr>
          <a:lstStyle/>
          <a:p>
            <a:pPr marL="0" indent="0" algn="just">
              <a:buNone/>
            </a:pPr>
            <a:r>
              <a:rPr lang="es-MX" sz="1200" dirty="0"/>
              <a:t>Adicionalmente al pipeline, debes entregar un componente de reporte que permita visualizar de forma rápida los resultados y el proceso realizado.</a:t>
            </a:r>
          </a:p>
          <a:p>
            <a:pPr marL="0" indent="0" algn="just">
              <a:buNone/>
            </a:pPr>
            <a:r>
              <a:rPr lang="es-MX" sz="1200" b="1" dirty="0"/>
              <a:t>Requisitos:</a:t>
            </a:r>
          </a:p>
          <a:p>
            <a:pPr lvl="1" algn="just"/>
            <a:r>
              <a:rPr lang="es-MX" sz="1200" dirty="0"/>
              <a:t>Debe poder ejecutarse localmente en un solo comando (por ejemplo </a:t>
            </a:r>
            <a:r>
              <a:rPr lang="es-MX" sz="1200" i="1" dirty="0" err="1"/>
              <a:t>python</a:t>
            </a:r>
            <a:r>
              <a:rPr lang="es-MX" sz="1200" i="1" dirty="0"/>
              <a:t> report.py</a:t>
            </a:r>
            <a:r>
              <a:rPr lang="es-MX" sz="1200" dirty="0"/>
              <a:t> o </a:t>
            </a:r>
            <a:r>
              <a:rPr lang="es-MX" sz="1200" i="1" dirty="0" err="1"/>
              <a:t>make</a:t>
            </a:r>
            <a:r>
              <a:rPr lang="es-MX" sz="1200" i="1" dirty="0"/>
              <a:t> </a:t>
            </a:r>
            <a:r>
              <a:rPr lang="es-MX" sz="1200" i="1" dirty="0" err="1"/>
              <a:t>report</a:t>
            </a:r>
            <a:r>
              <a:rPr lang="es-MX" sz="1200" dirty="0"/>
              <a:t>). </a:t>
            </a:r>
          </a:p>
          <a:p>
            <a:pPr lvl="1" algn="just"/>
            <a:r>
              <a:rPr lang="es-MX" sz="1200" dirty="0"/>
              <a:t>Debe generar un artefacto consumible por un tercero (por ejemplo </a:t>
            </a:r>
            <a:r>
              <a:rPr lang="es-MX" sz="1200" i="1" dirty="0"/>
              <a:t>report.html</a:t>
            </a:r>
            <a:r>
              <a:rPr lang="es-MX" sz="1200" dirty="0"/>
              <a:t> o </a:t>
            </a:r>
            <a:r>
              <a:rPr lang="es-MX" sz="1200" i="1" dirty="0"/>
              <a:t>report.md</a:t>
            </a:r>
            <a:r>
              <a:rPr lang="es-MX" sz="1200" dirty="0"/>
              <a:t>) o un notebook ejecutable.  </a:t>
            </a:r>
          </a:p>
          <a:p>
            <a:pPr marL="0" indent="0" algn="just">
              <a:buNone/>
            </a:pPr>
            <a:r>
              <a:rPr lang="es-MX" sz="1200" dirty="0"/>
              <a:t>El reporte debe incluir, como mínimo:    </a:t>
            </a:r>
          </a:p>
          <a:p>
            <a:pPr marL="0" indent="0" algn="just">
              <a:buNone/>
            </a:pPr>
            <a:r>
              <a:rPr lang="es-MX" sz="1200" dirty="0"/>
              <a:t>1. </a:t>
            </a:r>
            <a:r>
              <a:rPr lang="es-MX" sz="1200" b="1" dirty="0"/>
              <a:t>Resumen de ejecución</a:t>
            </a:r>
            <a:endParaRPr lang="es-MX" sz="1200" dirty="0"/>
          </a:p>
          <a:p>
            <a:pPr lvl="1" algn="just"/>
            <a:r>
              <a:rPr lang="es-MX" sz="1200" dirty="0"/>
              <a:t>Parámetros usados (</a:t>
            </a:r>
            <a:r>
              <a:rPr lang="es-MX" sz="1200" dirty="0" err="1"/>
              <a:t>paths</a:t>
            </a:r>
            <a:r>
              <a:rPr lang="es-MX" sz="1200" dirty="0"/>
              <a:t>, fecha/hora de ejecución).            </a:t>
            </a:r>
          </a:p>
          <a:p>
            <a:pPr lvl="1" algn="just"/>
            <a:r>
              <a:rPr lang="es-MX" sz="1200" dirty="0"/>
              <a:t>Cantidad de </a:t>
            </a:r>
            <a:r>
              <a:rPr lang="es-MX" sz="1200" dirty="0" err="1"/>
              <a:t>micro-batches</a:t>
            </a:r>
            <a:r>
              <a:rPr lang="es-MX" sz="1200" dirty="0"/>
              <a:t> o unidades procesadas.        </a:t>
            </a:r>
          </a:p>
          <a:p>
            <a:pPr marL="0" indent="0" algn="just">
              <a:buNone/>
            </a:pPr>
            <a:r>
              <a:rPr lang="es-MX" sz="1200" dirty="0"/>
              <a:t>2. </a:t>
            </a:r>
            <a:r>
              <a:rPr lang="es-MX" sz="1200" b="1" dirty="0"/>
              <a:t>Métricas por capa (</a:t>
            </a:r>
            <a:r>
              <a:rPr lang="es-MX" sz="1200" b="1" dirty="0" err="1"/>
              <a:t>Medallion</a:t>
            </a:r>
            <a:r>
              <a:rPr lang="es-MX" sz="1200" b="1" dirty="0"/>
              <a:t>)</a:t>
            </a:r>
            <a:endParaRPr lang="es-MX" sz="1200" dirty="0"/>
          </a:p>
          <a:p>
            <a:pPr lvl="1" algn="just"/>
            <a:r>
              <a:rPr lang="es-MX" sz="1200" dirty="0"/>
              <a:t>Conteo de registros en </a:t>
            </a:r>
            <a:r>
              <a:rPr lang="es-MX" sz="1200" dirty="0" err="1"/>
              <a:t>Bronze</a:t>
            </a:r>
            <a:r>
              <a:rPr lang="es-MX" sz="1200" dirty="0"/>
              <a:t>.            </a:t>
            </a:r>
          </a:p>
          <a:p>
            <a:pPr lvl="1" algn="just"/>
            <a:r>
              <a:rPr lang="es-MX" sz="1200" dirty="0"/>
              <a:t>Conteo de registros válidos en Silver.            </a:t>
            </a:r>
          </a:p>
          <a:p>
            <a:pPr lvl="1" algn="just"/>
            <a:r>
              <a:rPr lang="es-MX" sz="1200" dirty="0"/>
              <a:t>Conteo de registros enviados a cuarentena (Silver).            </a:t>
            </a:r>
          </a:p>
          <a:p>
            <a:pPr lvl="1" algn="just"/>
            <a:r>
              <a:rPr lang="es-MX" sz="1200" dirty="0"/>
              <a:t>Conteo de registros en Gold.        </a:t>
            </a:r>
          </a:p>
        </p:txBody>
      </p:sp>
      <p:sp>
        <p:nvSpPr>
          <p:cNvPr id="7" name="Marcador de contenido 6">
            <a:extLst>
              <a:ext uri="{FF2B5EF4-FFF2-40B4-BE49-F238E27FC236}">
                <a16:creationId xmlns:a16="http://schemas.microsoft.com/office/drawing/2014/main" id="{34366CD5-B125-777A-3EAD-063AAC3474D1}"/>
              </a:ext>
            </a:extLst>
          </p:cNvPr>
          <p:cNvSpPr>
            <a:spLocks noGrp="1"/>
          </p:cNvSpPr>
          <p:nvPr>
            <p:ph sz="quarter" idx="4"/>
          </p:nvPr>
        </p:nvSpPr>
        <p:spPr>
          <a:xfrm>
            <a:off x="6184900" y="2193925"/>
            <a:ext cx="5183188" cy="3684588"/>
          </a:xfrm>
        </p:spPr>
        <p:txBody>
          <a:bodyPr>
            <a:noAutofit/>
          </a:bodyPr>
          <a:lstStyle/>
          <a:p>
            <a:pPr marL="0" indent="0" algn="just">
              <a:buNone/>
            </a:pPr>
            <a:r>
              <a:rPr lang="es-MX" sz="1200" dirty="0"/>
              <a:t>3. </a:t>
            </a:r>
            <a:r>
              <a:rPr lang="es-MX" sz="1200" b="1" dirty="0"/>
              <a:t>Calidad de datos</a:t>
            </a:r>
            <a:endParaRPr lang="es-MX" sz="1200" dirty="0"/>
          </a:p>
          <a:p>
            <a:pPr lvl="1" algn="just"/>
            <a:r>
              <a:rPr lang="es-MX" sz="1200" dirty="0"/>
              <a:t>Número de duplicados detectados.            </a:t>
            </a:r>
          </a:p>
          <a:p>
            <a:pPr lvl="1" algn="just"/>
            <a:r>
              <a:rPr lang="es-MX" sz="1200" dirty="0"/>
              <a:t>Número de registros inválidos por regla (al menos 3 reglas).            </a:t>
            </a:r>
          </a:p>
          <a:p>
            <a:pPr lvl="1" algn="just"/>
            <a:r>
              <a:rPr lang="es-MX" sz="1200" dirty="0"/>
              <a:t>Porcentaje de nulos en campos críticos (al menos 3 campos).        </a:t>
            </a:r>
          </a:p>
          <a:p>
            <a:pPr marL="0" indent="0">
              <a:buNone/>
            </a:pPr>
            <a:endParaRPr lang="es-MX" sz="1200" dirty="0"/>
          </a:p>
          <a:p>
            <a:pPr marL="0" indent="0">
              <a:buNone/>
            </a:pPr>
            <a:r>
              <a:rPr lang="es-MX" sz="1200" dirty="0"/>
              <a:t>4. </a:t>
            </a:r>
            <a:r>
              <a:rPr lang="es-MX" sz="1200" b="1" dirty="0"/>
              <a:t>Visualizaciones mínimas (2 gráficos)</a:t>
            </a:r>
            <a:endParaRPr lang="es-MX" sz="1200" dirty="0"/>
          </a:p>
          <a:p>
            <a:pPr lvl="1"/>
            <a:r>
              <a:rPr lang="es-MX" sz="1200" dirty="0"/>
              <a:t>Un gráfico con el resumen de calidad (por ejemplo: válidos vs inválidos/cuarentena vs duplicados).            </a:t>
            </a:r>
          </a:p>
          <a:p>
            <a:pPr lvl="1"/>
            <a:r>
              <a:rPr lang="es-MX" sz="1200" dirty="0"/>
              <a:t>Un gráfico de negocio sobre la capa Gold (por ejemplo: saldo en riesgo o mora por mes de cosecha / cohorte).        </a:t>
            </a:r>
          </a:p>
          <a:p>
            <a:pPr marL="0" indent="0">
              <a:buNone/>
            </a:pPr>
            <a:r>
              <a:rPr lang="es-MX" sz="1200" b="1" dirty="0"/>
              <a:t>Objetivo</a:t>
            </a:r>
            <a:endParaRPr lang="es-MX" sz="1200" dirty="0"/>
          </a:p>
          <a:p>
            <a:pPr marL="0" indent="0">
              <a:buNone/>
            </a:pPr>
            <a:r>
              <a:rPr lang="es-MX" sz="1200" dirty="0"/>
              <a:t>Permitir que un evaluador entienda rápidamente el estado final del pipeline, su calidad y el valor del producto Gold, sin leer todo el código.</a:t>
            </a:r>
          </a:p>
          <a:p>
            <a:pPr marL="0" indent="0">
              <a:buNone/>
            </a:pPr>
            <a:r>
              <a:rPr lang="es-MX" sz="1200" b="1" dirty="0"/>
              <a:t>Nota </a:t>
            </a:r>
          </a:p>
          <a:p>
            <a:pPr marL="0" indent="0">
              <a:buNone/>
            </a:pPr>
            <a:r>
              <a:rPr lang="es-MX" sz="1200" i="1" dirty="0"/>
              <a:t>Puedes implementar una visualización interactiva local (por ejemplo </a:t>
            </a:r>
            <a:r>
              <a:rPr lang="es-MX" sz="1200" i="1" dirty="0" err="1"/>
              <a:t>Streamlit</a:t>
            </a:r>
            <a:r>
              <a:rPr lang="es-MX" sz="1200" i="1" dirty="0"/>
              <a:t>). No es obligatorio y no se espera infraestructura adicional.</a:t>
            </a:r>
            <a:endParaRPr lang="es-CO" sz="1200" i="1" dirty="0"/>
          </a:p>
        </p:txBody>
      </p:sp>
    </p:spTree>
    <p:extLst>
      <p:ext uri="{BB962C8B-B14F-4D97-AF65-F5344CB8AC3E}">
        <p14:creationId xmlns:p14="http://schemas.microsoft.com/office/powerpoint/2010/main" val="266361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7EFEE-5F12-6671-4E15-26536454CAD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06E9587-FF9E-3BD7-9207-C5CA3B07FA7D}"/>
              </a:ext>
            </a:extLst>
          </p:cNvPr>
          <p:cNvSpPr>
            <a:spLocks noGrp="1"/>
          </p:cNvSpPr>
          <p:nvPr>
            <p:ph type="title"/>
          </p:nvPr>
        </p:nvSpPr>
        <p:spPr>
          <a:xfrm>
            <a:off x="1038225" y="365125"/>
            <a:ext cx="10115550" cy="1325563"/>
          </a:xfrm>
        </p:spPr>
        <p:txBody>
          <a:bodyPr/>
          <a:lstStyle/>
          <a:p>
            <a:pPr algn="ctr"/>
            <a:r>
              <a:rPr lang="es-CO" dirty="0">
                <a:latin typeface="Bahnschrift Condensed" panose="020B0502040204020203" pitchFamily="34" charset="0"/>
              </a:rPr>
              <a:t>Análisis técnico</a:t>
            </a:r>
          </a:p>
        </p:txBody>
      </p:sp>
      <p:sp>
        <p:nvSpPr>
          <p:cNvPr id="3" name="Marcador de contenido 2">
            <a:extLst>
              <a:ext uri="{FF2B5EF4-FFF2-40B4-BE49-F238E27FC236}">
                <a16:creationId xmlns:a16="http://schemas.microsoft.com/office/drawing/2014/main" id="{4EB00FE3-3C0A-1F51-85C8-30A7AF44522A}"/>
              </a:ext>
            </a:extLst>
          </p:cNvPr>
          <p:cNvSpPr>
            <a:spLocks noGrp="1"/>
          </p:cNvSpPr>
          <p:nvPr>
            <p:ph idx="1"/>
          </p:nvPr>
        </p:nvSpPr>
        <p:spPr/>
        <p:txBody>
          <a:bodyPr>
            <a:normAutofit/>
          </a:bodyPr>
          <a:lstStyle/>
          <a:p>
            <a:pPr marL="0" indent="0" algn="just">
              <a:buNone/>
            </a:pPr>
            <a:r>
              <a:rPr lang="es-MX" sz="1800" dirty="0"/>
              <a:t>Adicionalmente, debes incluir un breve análisis escrito donde expliques:</a:t>
            </a:r>
          </a:p>
          <a:p>
            <a:pPr lvl="1" algn="just"/>
            <a:r>
              <a:rPr lang="es-MX" sz="1800" dirty="0"/>
              <a:t>Decisiones de diseño tomadas.</a:t>
            </a:r>
          </a:p>
          <a:p>
            <a:pPr lvl="1" algn="just"/>
            <a:r>
              <a:rPr lang="es-MX" sz="1800" dirty="0"/>
              <a:t>Posibles usos de los datos en cada capa (</a:t>
            </a:r>
            <a:r>
              <a:rPr lang="es-MX" sz="1800" dirty="0" err="1"/>
              <a:t>Bronze</a:t>
            </a:r>
            <a:r>
              <a:rPr lang="es-MX" sz="1800" dirty="0"/>
              <a:t>, Silver, Gold).</a:t>
            </a:r>
          </a:p>
          <a:p>
            <a:pPr lvl="1" algn="just"/>
            <a:r>
              <a:rPr lang="es-MX" sz="1800" dirty="0"/>
              <a:t>Consideraciones operativas y de costo en un escenario real.</a:t>
            </a:r>
          </a:p>
          <a:p>
            <a:pPr lvl="1" algn="just"/>
            <a:r>
              <a:rPr lang="es-MX" sz="1800" dirty="0"/>
              <a:t>Posibles mejoras o extensiones del pipeline.</a:t>
            </a:r>
          </a:p>
        </p:txBody>
      </p:sp>
    </p:spTree>
    <p:extLst>
      <p:ext uri="{BB962C8B-B14F-4D97-AF65-F5344CB8AC3E}">
        <p14:creationId xmlns:p14="http://schemas.microsoft.com/office/powerpoint/2010/main" val="4177486734"/>
      </p:ext>
    </p:extLst>
  </p:cSld>
  <p:clrMapOvr>
    <a:masterClrMapping/>
  </p:clrMapOvr>
</p:sld>
</file>

<file path=ppt/theme/theme1.xml><?xml version="1.0" encoding="utf-8"?>
<a:theme xmlns:a="http://schemas.openxmlformats.org/drawingml/2006/main" name="1_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340</TotalTime>
  <Words>1081</Words>
  <Application>Microsoft Office PowerPoint</Application>
  <PresentationFormat>Panorámica</PresentationFormat>
  <Paragraphs>92</Paragraphs>
  <Slides>8</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8</vt:i4>
      </vt:variant>
    </vt:vector>
  </HeadingPairs>
  <TitlesOfParts>
    <vt:vector size="13" baseType="lpstr">
      <vt:lpstr>Aptos</vt:lpstr>
      <vt:lpstr>Aptos Display</vt:lpstr>
      <vt:lpstr>Arial</vt:lpstr>
      <vt:lpstr>Bahnschrift Condensed</vt:lpstr>
      <vt:lpstr>1_Tema de Office</vt:lpstr>
      <vt:lpstr>Caso practico</vt:lpstr>
      <vt:lpstr>Contexto del ejercicio</vt:lpstr>
      <vt:lpstr>Entregables</vt:lpstr>
      <vt:lpstr>Contexto del caso</vt:lpstr>
      <vt:lpstr>Descripción del ejercicio</vt:lpstr>
      <vt:lpstr>Descripción del ejercicio</vt:lpstr>
      <vt:lpstr>Descripción del ejercicio</vt:lpstr>
      <vt:lpstr>Análisis técnico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Monica Rodriguez Silva</dc:creator>
  <cp:lastModifiedBy>Monica Rodriguez Silva</cp:lastModifiedBy>
  <cp:revision>3</cp:revision>
  <dcterms:created xsi:type="dcterms:W3CDTF">2026-01-06T16:28:42Z</dcterms:created>
  <dcterms:modified xsi:type="dcterms:W3CDTF">2026-02-02T13:42:08Z</dcterms:modified>
</cp:coreProperties>
</file>